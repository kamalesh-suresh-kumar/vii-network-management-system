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Sora Light" panose="020B0604020202020204" charset="0"/>
      <p:regular r:id="rId13"/>
    </p:embeddedFont>
    <p:embeddedFont>
      <p:font typeface="Sora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16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518591" y="1982001"/>
            <a:ext cx="11607824" cy="687694"/>
          </a:xfrm>
          <a:prstGeom prst="rect">
            <a:avLst/>
          </a:prstGeom>
          <a:noFill/>
          <a:ln/>
        </p:spPr>
        <p:txBody>
          <a:bodyPr wrap="square" lIns="0" tIns="0" rIns="0" bIns="0" rtlCol="0" anchor="t">
            <a:normAutofit lnSpcReduction="10000"/>
          </a:bodyPr>
          <a:lstStyle/>
          <a:p>
            <a:pPr marL="0" indent="0" algn="l">
              <a:lnSpc>
                <a:spcPct val="104000"/>
              </a:lnSpc>
              <a:buNone/>
            </a:pPr>
            <a:r>
              <a:rPr lang="en-US" sz="4500" dirty="0">
                <a:solidFill>
                  <a:srgbClr val="1F1E1E"/>
                </a:solidFill>
                <a:latin typeface="Sora SemiBold" pitchFamily="34" charset="0"/>
                <a:ea typeface="Sora SemiBold" pitchFamily="34" charset="-122"/>
                <a:cs typeface="Sora SemiBold" pitchFamily="34" charset="-120"/>
              </a:rPr>
              <a:t>Wipro Network Management System</a:t>
            </a:r>
            <a:endParaRPr lang="en-US" sz="4500" dirty="0"/>
          </a:p>
        </p:txBody>
      </p:sp>
      <p:sp>
        <p:nvSpPr>
          <p:cNvPr id="5" name="Text 2"/>
          <p:cNvSpPr/>
          <p:nvPr/>
        </p:nvSpPr>
        <p:spPr>
          <a:xfrm>
            <a:off x="518591" y="1505559"/>
            <a:ext cx="6965577" cy="252710"/>
          </a:xfrm>
          <a:prstGeom prst="rect">
            <a:avLst/>
          </a:prstGeom>
          <a:noFill/>
          <a:ln/>
        </p:spPr>
        <p:txBody>
          <a:bodyPr wrap="none" lIns="0" tIns="0" rIns="0" bIns="0" rtlCol="0" anchor="t"/>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Capstone Project — Technical Evaluation Presentation</a:t>
            </a:r>
            <a:endParaRPr lang="en-US" sz="1200" dirty="0"/>
          </a:p>
        </p:txBody>
      </p:sp>
      <p:sp>
        <p:nvSpPr>
          <p:cNvPr id="6" name="Shape 3"/>
          <p:cNvSpPr/>
          <p:nvPr/>
        </p:nvSpPr>
        <p:spPr>
          <a:xfrm>
            <a:off x="518591" y="4777942"/>
            <a:ext cx="6355993" cy="1781605"/>
          </a:xfrm>
          <a:prstGeom prst="roundRect">
            <a:avLst>
              <a:gd name="adj" fmla="val 4604"/>
            </a:avLst>
          </a:prstGeom>
          <a:solidFill>
            <a:srgbClr val="F9D2D6"/>
          </a:solidFill>
          <a:ln w="6350">
            <a:solidFill>
              <a:srgbClr val="DFB8BC"/>
            </a:solidFill>
            <a:prstDash val="solid"/>
          </a:ln>
        </p:spPr>
      </p:sp>
      <p:sp>
        <p:nvSpPr>
          <p:cNvPr id="7" name="Text 4"/>
          <p:cNvSpPr/>
          <p:nvPr/>
        </p:nvSpPr>
        <p:spPr>
          <a:xfrm>
            <a:off x="761872" y="5061894"/>
            <a:ext cx="2770416"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Project Team</a:t>
            </a:r>
            <a:endParaRPr lang="en-US" sz="1600" dirty="0"/>
          </a:p>
        </p:txBody>
      </p:sp>
      <p:sp>
        <p:nvSpPr>
          <p:cNvPr id="8" name="Text 5"/>
          <p:cNvSpPr/>
          <p:nvPr/>
        </p:nvSpPr>
        <p:spPr>
          <a:xfrm>
            <a:off x="761871" y="5411462"/>
            <a:ext cx="5450085"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230701138 — Kamalesh SP</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230701158 — Kumaran R</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230701414 — Ganesh M</a:t>
            </a:r>
            <a:endParaRPr lang="en-US" sz="1200" dirty="0"/>
          </a:p>
        </p:txBody>
      </p:sp>
      <p:sp>
        <p:nvSpPr>
          <p:cNvPr id="9" name="Shape 6"/>
          <p:cNvSpPr/>
          <p:nvPr/>
        </p:nvSpPr>
        <p:spPr>
          <a:xfrm>
            <a:off x="7036904" y="4777942"/>
            <a:ext cx="4992613" cy="1774446"/>
          </a:xfrm>
          <a:prstGeom prst="roundRect">
            <a:avLst>
              <a:gd name="adj" fmla="val 4604"/>
            </a:avLst>
          </a:prstGeom>
          <a:solidFill>
            <a:srgbClr val="F9D2D6"/>
          </a:solidFill>
          <a:ln w="6350">
            <a:solidFill>
              <a:srgbClr val="DFB8BC"/>
            </a:solidFill>
            <a:prstDash val="solid"/>
          </a:ln>
        </p:spPr>
      </p:sp>
      <p:sp>
        <p:nvSpPr>
          <p:cNvPr id="10" name="Text 7"/>
          <p:cNvSpPr/>
          <p:nvPr/>
        </p:nvSpPr>
        <p:spPr>
          <a:xfrm>
            <a:off x="9073715" y="5205889"/>
            <a:ext cx="2770416"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Guided By</a:t>
            </a:r>
            <a:endParaRPr lang="en-US" sz="1600" dirty="0"/>
          </a:p>
        </p:txBody>
      </p:sp>
      <p:sp>
        <p:nvSpPr>
          <p:cNvPr id="11" name="Text 8"/>
          <p:cNvSpPr/>
          <p:nvPr/>
        </p:nvSpPr>
        <p:spPr>
          <a:xfrm>
            <a:off x="9073715" y="5882661"/>
            <a:ext cx="2770416" cy="252710"/>
          </a:xfrm>
          <a:prstGeom prst="rect">
            <a:avLst/>
          </a:prstGeom>
          <a:noFill/>
          <a:ln/>
        </p:spPr>
        <p:txBody>
          <a:bodyPr wrap="none" lIns="0" tIns="0" rIns="0" bIns="0" rtlCol="0" anchor="t"/>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[MENTOR NAME]</a:t>
            </a:r>
            <a:endParaRPr lang="en-US" sz="1200" dirty="0"/>
          </a:p>
        </p:txBody>
      </p:sp>
      <p:sp>
        <p:nvSpPr>
          <p:cNvPr id="12" name="Shape 9"/>
          <p:cNvSpPr/>
          <p:nvPr/>
        </p:nvSpPr>
        <p:spPr>
          <a:xfrm>
            <a:off x="543339" y="3143273"/>
            <a:ext cx="11130070" cy="1244714"/>
          </a:xfrm>
          <a:prstGeom prst="roundRect">
            <a:avLst>
              <a:gd name="adj" fmla="val 7090"/>
            </a:avLst>
          </a:prstGeom>
          <a:solidFill>
            <a:srgbClr val="F9D2D6"/>
          </a:solidFill>
          <a:ln w="6350">
            <a:solidFill>
              <a:srgbClr val="DFB8BC"/>
            </a:solidFill>
            <a:prstDash val="solid"/>
          </a:ln>
        </p:spPr>
      </p:sp>
      <p:pic>
        <p:nvPicPr>
          <p:cNvPr id="57" name="Picture 2" descr="Index of /image">
            <a:extLst>
              <a:ext uri="{FF2B5EF4-FFF2-40B4-BE49-F238E27FC236}">
                <a16:creationId xmlns:a16="http://schemas.microsoft.com/office/drawing/2014/main" id="{AED7CAF0-7046-4383-5FF4-1AEAD5348B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3922" y="355969"/>
            <a:ext cx="2688774" cy="868542"/>
          </a:xfrm>
          <a:prstGeom prst="rect">
            <a:avLst/>
          </a:prstGeom>
          <a:noFill/>
          <a:extLst>
            <a:ext uri="{909E8E84-426E-40DD-AFC4-6F175D3DCCD1}">
              <a14:hiddenFill xmlns:a14="http://schemas.microsoft.com/office/drawing/2010/main">
                <a:solidFill>
                  <a:srgbClr val="FFFFFF"/>
                </a:solidFill>
              </a14:hiddenFill>
            </a:ext>
          </a:extLst>
        </p:spPr>
      </p:pic>
      <p:sp>
        <p:nvSpPr>
          <p:cNvPr id="60" name="Shape 5">
            <a:extLst>
              <a:ext uri="{FF2B5EF4-FFF2-40B4-BE49-F238E27FC236}">
                <a16:creationId xmlns:a16="http://schemas.microsoft.com/office/drawing/2014/main" id="{A18F304F-0373-029F-E5CA-8E6CA6158B40}"/>
              </a:ext>
            </a:extLst>
          </p:cNvPr>
          <p:cNvSpPr/>
          <p:nvPr/>
        </p:nvSpPr>
        <p:spPr>
          <a:xfrm>
            <a:off x="518591" y="2764449"/>
            <a:ext cx="10841835" cy="126702"/>
          </a:xfrm>
          <a:prstGeom prst="roundRect">
            <a:avLst>
              <a:gd name="adj" fmla="val 49999"/>
            </a:avLst>
          </a:prstGeom>
          <a:solidFill>
            <a:srgbClr val="E53945"/>
          </a:solidFill>
          <a:ln/>
        </p:spPr>
      </p:sp>
      <p:sp>
        <p:nvSpPr>
          <p:cNvPr id="64" name="TextBox 63">
            <a:extLst>
              <a:ext uri="{FF2B5EF4-FFF2-40B4-BE49-F238E27FC236}">
                <a16:creationId xmlns:a16="http://schemas.microsoft.com/office/drawing/2014/main" id="{A27E44B2-F0DB-1B83-8EA3-A4F8572247C7}"/>
              </a:ext>
            </a:extLst>
          </p:cNvPr>
          <p:cNvSpPr txBox="1"/>
          <p:nvPr/>
        </p:nvSpPr>
        <p:spPr>
          <a:xfrm>
            <a:off x="1423935" y="3645060"/>
            <a:ext cx="12120466" cy="340542"/>
          </a:xfrm>
          <a:prstGeom prst="rect">
            <a:avLst/>
          </a:prstGeom>
          <a:noFill/>
        </p:spPr>
        <p:txBody>
          <a:bodyPr wrap="square">
            <a:spAutoFit/>
          </a:bodyPr>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COGNINENT – AI  POWERED NETWORK FAULT AND ROOT CAUSE ANALYSIS SYSTEM</a:t>
            </a:r>
            <a:endParaRPr lang="en-US" sz="1600" dirty="0"/>
          </a:p>
        </p:txBody>
      </p:sp>
      <p:pic>
        <p:nvPicPr>
          <p:cNvPr id="68" name="Picture 67">
            <a:extLst>
              <a:ext uri="{FF2B5EF4-FFF2-40B4-BE49-F238E27FC236}">
                <a16:creationId xmlns:a16="http://schemas.microsoft.com/office/drawing/2014/main" id="{0A28ABF7-C7DC-29C2-9361-C399B261622E}"/>
              </a:ext>
            </a:extLst>
          </p:cNvPr>
          <p:cNvPicPr>
            <a:picLocks noChangeAspect="1"/>
          </p:cNvPicPr>
          <p:nvPr/>
        </p:nvPicPr>
        <p:blipFill>
          <a:blip r:embed="rId4"/>
          <a:stretch>
            <a:fillRect/>
          </a:stretch>
        </p:blipFill>
        <p:spPr>
          <a:xfrm>
            <a:off x="10458923" y="6608483"/>
            <a:ext cx="1733078" cy="2076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31908" y="463054"/>
            <a:ext cx="1359362" cy="204093"/>
          </a:xfrm>
          <a:prstGeom prst="roundRect">
            <a:avLst>
              <a:gd name="adj" fmla="val 22107"/>
            </a:avLst>
          </a:prstGeom>
          <a:solidFill>
            <a:srgbClr val="F9D2D6"/>
          </a:solidFill>
          <a:ln/>
        </p:spPr>
      </p:sp>
      <p:sp>
        <p:nvSpPr>
          <p:cNvPr id="3" name="Text 1"/>
          <p:cNvSpPr/>
          <p:nvPr/>
        </p:nvSpPr>
        <p:spPr>
          <a:xfrm>
            <a:off x="712472" y="503337"/>
            <a:ext cx="1807820" cy="123527"/>
          </a:xfrm>
          <a:prstGeom prst="rect">
            <a:avLst/>
          </a:prstGeom>
          <a:noFill/>
          <a:ln/>
        </p:spPr>
        <p:txBody>
          <a:bodyPr wrap="none" lIns="0" tIns="0" rIns="0" bIns="0" rtlCol="0" anchor="t"/>
          <a:lstStyle/>
          <a:p>
            <a:pPr marL="0" indent="0" algn="l">
              <a:lnSpc>
                <a:spcPct val="96000"/>
              </a:lnSpc>
              <a:buNone/>
            </a:pPr>
            <a:r>
              <a:rPr lang="en-US" sz="800" dirty="0">
                <a:solidFill>
                  <a:srgbClr val="3B3535"/>
                </a:solidFill>
                <a:latin typeface="Sora Light" pitchFamily="34" charset="0"/>
                <a:ea typeface="Sora Light" pitchFamily="34" charset="-122"/>
                <a:cs typeface="Sora Light" pitchFamily="34" charset="-120"/>
              </a:rPr>
              <a:t>PROBLEM STATEMENT</a:t>
            </a:r>
            <a:endParaRPr lang="en-US" sz="800" dirty="0"/>
          </a:p>
        </p:txBody>
      </p:sp>
      <p:sp>
        <p:nvSpPr>
          <p:cNvPr id="4" name="Text 2"/>
          <p:cNvSpPr/>
          <p:nvPr/>
        </p:nvSpPr>
        <p:spPr>
          <a:xfrm>
            <a:off x="631908" y="712788"/>
            <a:ext cx="10927878" cy="88344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1F1E1E"/>
                </a:solidFill>
                <a:latin typeface="Sora SemiBold" pitchFamily="34" charset="0"/>
                <a:ea typeface="Sora SemiBold" pitchFamily="34" charset="-122"/>
                <a:cs typeface="Sora SemiBold" pitchFamily="34" charset="-120"/>
              </a:rPr>
              <a:t>Challenges in Monitoring and Managing Network Infrastructure</a:t>
            </a:r>
            <a:endParaRPr lang="en-US" sz="2750" dirty="0"/>
          </a:p>
        </p:txBody>
      </p:sp>
      <p:sp>
        <p:nvSpPr>
          <p:cNvPr id="5" name="Text 3"/>
          <p:cNvSpPr/>
          <p:nvPr/>
        </p:nvSpPr>
        <p:spPr>
          <a:xfrm>
            <a:off x="631908" y="1767384"/>
            <a:ext cx="10927878" cy="397272"/>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3535"/>
                </a:solidFill>
                <a:latin typeface="Sora Light" pitchFamily="34" charset="0"/>
                <a:ea typeface="Sora Light" pitchFamily="34" charset="-122"/>
                <a:cs typeface="Sora Light" pitchFamily="34" charset="-120"/>
              </a:rPr>
              <a:t>Modern network environments contain multiple devices, interfaces, and continuously changing operational information. As the network grows, manually observing device health, interface conditions, and network events becomes increasingly difficult.</a:t>
            </a:r>
            <a:endParaRPr lang="en-US" sz="10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2293045"/>
            <a:ext cx="3566527" cy="1787723"/>
          </a:xfrm>
          <a:prstGeom prst="rect">
            <a:avLst/>
          </a:prstGeom>
        </p:spPr>
      </p:pic>
      <p:sp>
        <p:nvSpPr>
          <p:cNvPr id="7" name="Text 4"/>
          <p:cNvSpPr/>
          <p:nvPr/>
        </p:nvSpPr>
        <p:spPr>
          <a:xfrm>
            <a:off x="861396" y="2446338"/>
            <a:ext cx="3183751" cy="220861"/>
          </a:xfrm>
          <a:prstGeom prst="rect">
            <a:avLst/>
          </a:prstGeom>
          <a:noFill/>
          <a:ln/>
        </p:spPr>
        <p:txBody>
          <a:bodyPr wrap="none" lIns="0" tIns="0" rIns="0" bIns="0" rtlCol="0" anchor="t"/>
          <a:lstStyle/>
          <a:p>
            <a:pPr marL="0" indent="0" algn="l">
              <a:lnSpc>
                <a:spcPct val="104000"/>
              </a:lnSpc>
              <a:buNone/>
            </a:pPr>
            <a:r>
              <a:rPr lang="en-US" sz="1350" dirty="0">
                <a:solidFill>
                  <a:srgbClr val="3B3535"/>
                </a:solidFill>
                <a:latin typeface="Sora SemiBold" pitchFamily="34" charset="0"/>
                <a:ea typeface="Sora SemiBold" pitchFamily="34" charset="-122"/>
                <a:cs typeface="Sora SemiBold" pitchFamily="34" charset="-120"/>
              </a:rPr>
              <a:t>Limited Device Visibility</a:t>
            </a:r>
            <a:endParaRPr lang="en-US" sz="1350" dirty="0"/>
          </a:p>
        </p:txBody>
      </p:sp>
      <p:sp>
        <p:nvSpPr>
          <p:cNvPr id="8" name="Text 5"/>
          <p:cNvSpPr/>
          <p:nvPr/>
        </p:nvSpPr>
        <p:spPr>
          <a:xfrm>
            <a:off x="861396" y="2735659"/>
            <a:ext cx="3183751" cy="1191816"/>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3535"/>
                </a:solidFill>
                <a:latin typeface="Sora Light" pitchFamily="34" charset="0"/>
                <a:ea typeface="Sora Light" pitchFamily="34" charset="-122"/>
                <a:cs typeface="Sora Light" pitchFamily="34" charset="-120"/>
              </a:rPr>
              <a:t>Network administrators need a centralized view of managed network devices and their operational status. When information is distributed across individual devices, obtaining an overall view of network health becomes difficult.</a:t>
            </a:r>
            <a:endParaRPr lang="en-US" sz="10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534" y="2293045"/>
            <a:ext cx="3566527" cy="1787723"/>
          </a:xfrm>
          <a:prstGeom prst="rect">
            <a:avLst/>
          </a:prstGeom>
        </p:spPr>
      </p:pic>
      <p:sp>
        <p:nvSpPr>
          <p:cNvPr id="10" name="Text 6"/>
          <p:cNvSpPr/>
          <p:nvPr/>
        </p:nvSpPr>
        <p:spPr>
          <a:xfrm>
            <a:off x="4542022" y="2446338"/>
            <a:ext cx="3183751" cy="220861"/>
          </a:xfrm>
          <a:prstGeom prst="rect">
            <a:avLst/>
          </a:prstGeom>
          <a:noFill/>
          <a:ln/>
        </p:spPr>
        <p:txBody>
          <a:bodyPr wrap="none" lIns="0" tIns="0" rIns="0" bIns="0" rtlCol="0" anchor="t"/>
          <a:lstStyle/>
          <a:p>
            <a:pPr marL="0" indent="0" algn="l">
              <a:lnSpc>
                <a:spcPct val="104000"/>
              </a:lnSpc>
              <a:buNone/>
            </a:pPr>
            <a:r>
              <a:rPr lang="en-US" sz="1350" dirty="0">
                <a:solidFill>
                  <a:srgbClr val="3B3535"/>
                </a:solidFill>
                <a:latin typeface="Sora SemiBold" pitchFamily="34" charset="0"/>
                <a:ea typeface="Sora SemiBold" pitchFamily="34" charset="-122"/>
                <a:cs typeface="Sora SemiBold" pitchFamily="34" charset="-120"/>
              </a:rPr>
              <a:t>Manual Interface Monitoring</a:t>
            </a:r>
            <a:endParaRPr lang="en-US" sz="1350" dirty="0"/>
          </a:p>
        </p:txBody>
      </p:sp>
      <p:sp>
        <p:nvSpPr>
          <p:cNvPr id="11" name="Text 7"/>
          <p:cNvSpPr/>
          <p:nvPr/>
        </p:nvSpPr>
        <p:spPr>
          <a:xfrm>
            <a:off x="4542022" y="2735659"/>
            <a:ext cx="3183751" cy="993180"/>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3535"/>
                </a:solidFill>
                <a:latin typeface="Sora Light" pitchFamily="34" charset="0"/>
                <a:ea typeface="Sora Light" pitchFamily="34" charset="-122"/>
                <a:cs typeface="Sora Light" pitchFamily="34" charset="-120"/>
              </a:rPr>
              <a:t>Network devices contain multiple interfaces whose operational states can change. Checking individual interfaces manually increases monitoring effort and makes continuous observation difficult.</a:t>
            </a:r>
            <a:endParaRPr lang="en-US" sz="10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3160" y="2293045"/>
            <a:ext cx="3566527" cy="1787723"/>
          </a:xfrm>
          <a:prstGeom prst="rect">
            <a:avLst/>
          </a:prstGeom>
        </p:spPr>
      </p:pic>
      <p:sp>
        <p:nvSpPr>
          <p:cNvPr id="13" name="Text 8"/>
          <p:cNvSpPr/>
          <p:nvPr/>
        </p:nvSpPr>
        <p:spPr>
          <a:xfrm>
            <a:off x="8222647" y="2446338"/>
            <a:ext cx="3183751" cy="220861"/>
          </a:xfrm>
          <a:prstGeom prst="rect">
            <a:avLst/>
          </a:prstGeom>
          <a:noFill/>
          <a:ln/>
        </p:spPr>
        <p:txBody>
          <a:bodyPr wrap="none" lIns="0" tIns="0" rIns="0" bIns="0" rtlCol="0" anchor="t"/>
          <a:lstStyle/>
          <a:p>
            <a:pPr marL="0" indent="0" algn="l">
              <a:lnSpc>
                <a:spcPct val="104000"/>
              </a:lnSpc>
              <a:buNone/>
            </a:pPr>
            <a:r>
              <a:rPr lang="en-US" sz="1350" dirty="0">
                <a:solidFill>
                  <a:srgbClr val="3B3535"/>
                </a:solidFill>
                <a:latin typeface="Sora SemiBold" pitchFamily="34" charset="0"/>
                <a:ea typeface="Sora SemiBold" pitchFamily="34" charset="-122"/>
                <a:cs typeface="Sora SemiBold" pitchFamily="34" charset="-120"/>
              </a:rPr>
              <a:t>Telemetry Management</a:t>
            </a:r>
            <a:endParaRPr lang="en-US" sz="1350" dirty="0"/>
          </a:p>
        </p:txBody>
      </p:sp>
      <p:sp>
        <p:nvSpPr>
          <p:cNvPr id="14" name="Text 9"/>
          <p:cNvSpPr/>
          <p:nvPr/>
        </p:nvSpPr>
        <p:spPr>
          <a:xfrm>
            <a:off x="8222647" y="2735659"/>
            <a:ext cx="3183751" cy="794544"/>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3535"/>
                </a:solidFill>
                <a:latin typeface="Sora Light" pitchFamily="34" charset="0"/>
                <a:ea typeface="Sora Light" pitchFamily="34" charset="-122"/>
                <a:cs typeface="Sora Light" pitchFamily="34" charset="-120"/>
              </a:rPr>
              <a:t>Network operational information — interface status, device information, and performance metrics — needs to be collected, processed, and stored systematically.</a:t>
            </a:r>
            <a:endParaRPr lang="en-US" sz="10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4194870"/>
            <a:ext cx="3566527" cy="1390452"/>
          </a:xfrm>
          <a:prstGeom prst="rect">
            <a:avLst/>
          </a:prstGeom>
        </p:spPr>
      </p:pic>
      <p:sp>
        <p:nvSpPr>
          <p:cNvPr id="16" name="Text 10"/>
          <p:cNvSpPr/>
          <p:nvPr/>
        </p:nvSpPr>
        <p:spPr>
          <a:xfrm>
            <a:off x="861396" y="4348163"/>
            <a:ext cx="3183751" cy="220861"/>
          </a:xfrm>
          <a:prstGeom prst="rect">
            <a:avLst/>
          </a:prstGeom>
          <a:noFill/>
          <a:ln/>
        </p:spPr>
        <p:txBody>
          <a:bodyPr wrap="none" lIns="0" tIns="0" rIns="0" bIns="0" rtlCol="0" anchor="t"/>
          <a:lstStyle/>
          <a:p>
            <a:pPr marL="0" indent="0" algn="l">
              <a:lnSpc>
                <a:spcPct val="104000"/>
              </a:lnSpc>
              <a:buNone/>
            </a:pPr>
            <a:r>
              <a:rPr lang="en-US" sz="1350" dirty="0">
                <a:solidFill>
                  <a:srgbClr val="3B3535"/>
                </a:solidFill>
                <a:latin typeface="Sora SemiBold" pitchFamily="34" charset="0"/>
                <a:ea typeface="Sora SemiBold" pitchFamily="34" charset="-122"/>
                <a:cs typeface="Sora SemiBold" pitchFamily="34" charset="-120"/>
              </a:rPr>
              <a:t>Delayed Fault Detection</a:t>
            </a:r>
            <a:endParaRPr lang="en-US" sz="1350" dirty="0"/>
          </a:p>
        </p:txBody>
      </p:sp>
      <p:sp>
        <p:nvSpPr>
          <p:cNvPr id="17" name="Text 11"/>
          <p:cNvSpPr/>
          <p:nvPr/>
        </p:nvSpPr>
        <p:spPr>
          <a:xfrm>
            <a:off x="861396" y="4637484"/>
            <a:ext cx="3183751" cy="794544"/>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3B3535"/>
                </a:solidFill>
                <a:latin typeface="Sora Light" pitchFamily="34" charset="0"/>
                <a:ea typeface="Sora Light" pitchFamily="34" charset="-122"/>
                <a:cs typeface="Sora Light" pitchFamily="34" charset="-120"/>
              </a:rPr>
              <a:t>An interface or device can transition from a normal state to a failed state. Without continuous monitoring and processing, such conditions may not be identified immediately.</a:t>
            </a:r>
            <a:endParaRPr lang="en-US" sz="10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2534" y="4194870"/>
            <a:ext cx="3566527" cy="1390452"/>
          </a:xfrm>
          <a:prstGeom prst="rect">
            <a:avLst/>
          </a:prstGeom>
        </p:spPr>
      </p:pic>
      <p:sp>
        <p:nvSpPr>
          <p:cNvPr id="19" name="Text 12"/>
          <p:cNvSpPr/>
          <p:nvPr/>
        </p:nvSpPr>
        <p:spPr>
          <a:xfrm>
            <a:off x="4542022" y="4348163"/>
            <a:ext cx="3183751" cy="220861"/>
          </a:xfrm>
          <a:prstGeom prst="rect">
            <a:avLst/>
          </a:prstGeom>
          <a:noFill/>
          <a:ln/>
        </p:spPr>
        <p:txBody>
          <a:bodyPr wrap="none" lIns="0" tIns="0" rIns="0" bIns="0" rtlCol="0" anchor="t"/>
          <a:lstStyle/>
          <a:p>
            <a:pPr>
              <a:lnSpc>
                <a:spcPct val="104000"/>
              </a:lnSpc>
            </a:pPr>
            <a:r>
              <a:rPr lang="en-US" sz="1350" dirty="0">
                <a:solidFill>
                  <a:srgbClr val="3B3535"/>
                </a:solidFill>
                <a:latin typeface="Sora SemiBold" pitchFamily="34" charset="0"/>
                <a:ea typeface="Sora SemiBold" pitchFamily="34" charset="-122"/>
                <a:cs typeface="Sora SemiBold" pitchFamily="34" charset="-120"/>
              </a:rPr>
              <a:t>Unstructured Alarm Tracking</a:t>
            </a:r>
            <a:endParaRPr lang="en-US" sz="1350" dirty="0"/>
          </a:p>
        </p:txBody>
      </p:sp>
      <p:sp>
        <p:nvSpPr>
          <p:cNvPr id="20" name="Text 13"/>
          <p:cNvSpPr/>
          <p:nvPr/>
        </p:nvSpPr>
        <p:spPr>
          <a:xfrm>
            <a:off x="4542022" y="4637484"/>
            <a:ext cx="3183751" cy="794544"/>
          </a:xfrm>
          <a:prstGeom prst="rect">
            <a:avLst/>
          </a:prstGeom>
          <a:noFill/>
          <a:ln/>
        </p:spPr>
        <p:txBody>
          <a:bodyPr wrap="square" lIns="0" tIns="0" rIns="0" bIns="0" rtlCol="0" anchor="t">
            <a:normAutofit/>
          </a:bodyPr>
          <a:lstStyle/>
          <a:p>
            <a:pPr>
              <a:lnSpc>
                <a:spcPct val="123000"/>
              </a:lnSpc>
            </a:pPr>
            <a:r>
              <a:rPr lang="en-US" sz="1050" dirty="0">
                <a:solidFill>
                  <a:srgbClr val="3B3535"/>
                </a:solidFill>
                <a:latin typeface="Sora Light" pitchFamily="34" charset="0"/>
                <a:ea typeface="Sora Light" pitchFamily="34" charset="-122"/>
                <a:cs typeface="Sora Light" pitchFamily="34" charset="-120"/>
              </a:rPr>
              <a:t>Identifying a fault is only the first step. The fault needs to be recorded, tracked while active, and cleared when the underlying condition is resolved.</a:t>
            </a:r>
            <a:endParaRPr lang="en-US" sz="1050" dirty="0"/>
          </a:p>
        </p:txBody>
      </p:sp>
      <p:sp>
        <p:nvSpPr>
          <p:cNvPr id="21" name="Shape 14"/>
          <p:cNvSpPr/>
          <p:nvPr/>
        </p:nvSpPr>
        <p:spPr>
          <a:xfrm>
            <a:off x="631908" y="5713710"/>
            <a:ext cx="10927878" cy="681137"/>
          </a:xfrm>
          <a:prstGeom prst="roundRect">
            <a:avLst>
              <a:gd name="adj" fmla="val 8280"/>
            </a:avLst>
          </a:prstGeom>
          <a:solidFill>
            <a:srgbClr val="F9D2D6"/>
          </a:solidFill>
          <a:ln/>
        </p:spPr>
      </p:sp>
      <p:pic>
        <p:nvPicPr>
          <p:cNvPr id="22" name="Image 5" descr="preencoded.png"/>
          <p:cNvPicPr>
            <a:picLocks noChangeAspect="1"/>
          </p:cNvPicPr>
          <p:nvPr/>
        </p:nvPicPr>
        <p:blipFill>
          <a:blip r:embed="rId5"/>
          <a:stretch>
            <a:fillRect/>
          </a:stretch>
        </p:blipFill>
        <p:spPr>
          <a:xfrm>
            <a:off x="766148" y="5877223"/>
            <a:ext cx="167775" cy="134243"/>
          </a:xfrm>
          <a:prstGeom prst="rect">
            <a:avLst/>
          </a:prstGeom>
        </p:spPr>
      </p:pic>
      <p:sp>
        <p:nvSpPr>
          <p:cNvPr id="23" name="Text 15"/>
          <p:cNvSpPr/>
          <p:nvPr/>
        </p:nvSpPr>
        <p:spPr>
          <a:xfrm>
            <a:off x="1068162" y="5861348"/>
            <a:ext cx="10357385" cy="397272"/>
          </a:xfrm>
          <a:prstGeom prst="rect">
            <a:avLst/>
          </a:prstGeom>
          <a:noFill/>
          <a:ln/>
        </p:spPr>
        <p:txBody>
          <a:bodyPr wrap="square" lIns="0" tIns="0" rIns="0" bIns="0" rtlCol="0" anchor="t">
            <a:normAutofit/>
          </a:bodyPr>
          <a:lstStyle/>
          <a:p>
            <a:pPr marL="0" indent="0" algn="l">
              <a:lnSpc>
                <a:spcPct val="123000"/>
              </a:lnSpc>
              <a:buNone/>
            </a:pPr>
            <a:r>
              <a:rPr lang="en-US" sz="1050" b="1" dirty="0">
                <a:solidFill>
                  <a:srgbClr val="000000"/>
                </a:solidFill>
                <a:latin typeface="Sora Bold" pitchFamily="34" charset="0"/>
                <a:ea typeface="Sora Bold" pitchFamily="34" charset="-122"/>
                <a:cs typeface="Sora Bold" pitchFamily="34" charset="-120"/>
              </a:rPr>
              <a:t>CORE PROBLEM:</a:t>
            </a:r>
            <a:r>
              <a:rPr lang="en-US" sz="1050" dirty="0">
                <a:solidFill>
                  <a:srgbClr val="000000"/>
                </a:solidFill>
                <a:latin typeface="Sora Light" pitchFamily="34" charset="0"/>
                <a:ea typeface="Sora Light" pitchFamily="34" charset="-122"/>
                <a:cs typeface="Sora Light" pitchFamily="34" charset="-120"/>
              </a:rPr>
              <a:t> How can network devices, interfaces, telemetry, and faults be monitored through a single centralized Network Management System?</a:t>
            </a:r>
            <a:endParaRPr lang="en-US" sz="1050" dirty="0"/>
          </a:p>
          <a:p>
            <a:pPr marL="0" indent="0" algn="l">
              <a:lnSpc>
                <a:spcPct val="123000"/>
              </a:lnSpc>
              <a:buNone/>
            </a:pPr>
            <a:r>
              <a:rPr lang="en-US" sz="1050" b="1" dirty="0">
                <a:solidFill>
                  <a:srgbClr val="000000"/>
                </a:solidFill>
                <a:latin typeface="Sora Bold" pitchFamily="34" charset="0"/>
                <a:ea typeface="Sora Bold" pitchFamily="34" charset="-122"/>
                <a:cs typeface="Sora Bold" pitchFamily="34" charset="-120"/>
              </a:rPr>
              <a:t>Flow:</a:t>
            </a:r>
            <a:r>
              <a:rPr lang="en-US" sz="1050" dirty="0">
                <a:solidFill>
                  <a:srgbClr val="000000"/>
                </a:solidFill>
                <a:latin typeface="Sora Light" pitchFamily="34" charset="0"/>
                <a:ea typeface="Sora Light" pitchFamily="34" charset="-122"/>
                <a:cs typeface="Sora Light" pitchFamily="34" charset="-120"/>
              </a:rPr>
              <a:t> Multiple Network Devices → Distributed Information → Manual Monitoring → Delayed Fault Detection → Operational Difficulty</a:t>
            </a:r>
            <a:endParaRPr lang="en-US" sz="1050" dirty="0"/>
          </a:p>
        </p:txBody>
      </p:sp>
      <p:pic>
        <p:nvPicPr>
          <p:cNvPr id="25" name="Image 4" descr="preencoded.png">
            <a:extLst>
              <a:ext uri="{FF2B5EF4-FFF2-40B4-BE49-F238E27FC236}">
                <a16:creationId xmlns:a16="http://schemas.microsoft.com/office/drawing/2014/main" id="{4337B442-45E6-723F-1C3D-07EB5CDEC5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3259" y="4187031"/>
            <a:ext cx="3566527" cy="1390452"/>
          </a:xfrm>
          <a:prstGeom prst="rect">
            <a:avLst/>
          </a:prstGeom>
        </p:spPr>
      </p:pic>
      <p:pic>
        <p:nvPicPr>
          <p:cNvPr id="33" name="Picture 32">
            <a:extLst>
              <a:ext uri="{FF2B5EF4-FFF2-40B4-BE49-F238E27FC236}">
                <a16:creationId xmlns:a16="http://schemas.microsoft.com/office/drawing/2014/main" id="{FC6F8134-669F-6B99-D766-A2172D596D44}"/>
              </a:ext>
            </a:extLst>
          </p:cNvPr>
          <p:cNvPicPr>
            <a:picLocks noChangeAspect="1"/>
          </p:cNvPicPr>
          <p:nvPr/>
        </p:nvPicPr>
        <p:blipFill>
          <a:blip r:embed="rId6"/>
          <a:stretch>
            <a:fillRect/>
          </a:stretch>
        </p:blipFill>
        <p:spPr>
          <a:xfrm>
            <a:off x="10458923" y="6608483"/>
            <a:ext cx="1733078" cy="207607"/>
          </a:xfrm>
          <a:prstGeom prst="rect">
            <a:avLst/>
          </a:prstGeom>
        </p:spPr>
      </p:pic>
      <p:sp>
        <p:nvSpPr>
          <p:cNvPr id="35" name="TextBox 34">
            <a:extLst>
              <a:ext uri="{FF2B5EF4-FFF2-40B4-BE49-F238E27FC236}">
                <a16:creationId xmlns:a16="http://schemas.microsoft.com/office/drawing/2014/main" id="{B98B10F7-5F1F-DA92-5C8D-48D76EE65049}"/>
              </a:ext>
            </a:extLst>
          </p:cNvPr>
          <p:cNvSpPr txBox="1"/>
          <p:nvPr/>
        </p:nvSpPr>
        <p:spPr>
          <a:xfrm>
            <a:off x="8108549" y="4307718"/>
            <a:ext cx="6097554" cy="301749"/>
          </a:xfrm>
          <a:prstGeom prst="rect">
            <a:avLst/>
          </a:prstGeom>
          <a:noFill/>
        </p:spPr>
        <p:txBody>
          <a:bodyPr wrap="square">
            <a:spAutoFit/>
          </a:bodyPr>
          <a:lstStyle/>
          <a:p>
            <a:pPr>
              <a:lnSpc>
                <a:spcPct val="100000"/>
              </a:lnSpc>
            </a:pPr>
            <a:r>
              <a:rPr lang="en-US" sz="1350" dirty="0">
                <a:solidFill>
                  <a:srgbClr val="3B3535"/>
                </a:solidFill>
                <a:latin typeface="Sora SemiBold" pitchFamily="34" charset="0"/>
                <a:ea typeface="Sora SemiBold" pitchFamily="34" charset="-122"/>
                <a:cs typeface="Sora SemiBold" pitchFamily="34" charset="-120"/>
              </a:rPr>
              <a:t>Inconsistent Fault Tracking</a:t>
            </a:r>
            <a:endParaRPr lang="en-US" sz="1350" dirty="0"/>
          </a:p>
        </p:txBody>
      </p:sp>
      <p:sp>
        <p:nvSpPr>
          <p:cNvPr id="37" name="TextBox 36">
            <a:extLst>
              <a:ext uri="{FF2B5EF4-FFF2-40B4-BE49-F238E27FC236}">
                <a16:creationId xmlns:a16="http://schemas.microsoft.com/office/drawing/2014/main" id="{CF5CF671-D697-0532-5931-3E92AFEF99A2}"/>
              </a:ext>
            </a:extLst>
          </p:cNvPr>
          <p:cNvSpPr txBox="1"/>
          <p:nvPr/>
        </p:nvSpPr>
        <p:spPr>
          <a:xfrm>
            <a:off x="8147738" y="4593249"/>
            <a:ext cx="3412048" cy="738664"/>
          </a:xfrm>
          <a:prstGeom prst="rect">
            <a:avLst/>
          </a:prstGeom>
          <a:noFill/>
        </p:spPr>
        <p:txBody>
          <a:bodyPr wrap="square">
            <a:spAutoFit/>
          </a:bodyPr>
          <a:lstStyle/>
          <a:p>
            <a:pPr marL="0" indent="0" algn="l">
              <a:lnSpc>
                <a:spcPct val="100000"/>
              </a:lnSpc>
              <a:buNone/>
            </a:pPr>
            <a:r>
              <a:rPr lang="en-US" sz="1050" dirty="0">
                <a:solidFill>
                  <a:srgbClr val="3B3535"/>
                </a:solidFill>
                <a:latin typeface="Sora Light" pitchFamily="34" charset="0"/>
                <a:ea typeface="Sora Light" pitchFamily="34" charset="-122"/>
                <a:cs typeface="Sora Light" pitchFamily="34" charset="-120"/>
              </a:rPr>
              <a:t>Active, recurring and resolved network conditions can be difficult to track systematically and the effort required for continuous monitoring.	</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08" y="577850"/>
            <a:ext cx="1015875" cy="148530"/>
          </a:xfrm>
          <a:prstGeom prst="roundRect">
            <a:avLst>
              <a:gd name="adj" fmla="val 22140"/>
            </a:avLst>
          </a:prstGeom>
          <a:solidFill>
            <a:srgbClr val="F9D2D6"/>
          </a:solidFill>
          <a:ln/>
        </p:spPr>
      </p:sp>
      <p:sp>
        <p:nvSpPr>
          <p:cNvPr id="3" name="Text 1"/>
          <p:cNvSpPr/>
          <p:nvPr/>
        </p:nvSpPr>
        <p:spPr>
          <a:xfrm>
            <a:off x="690545" y="607120"/>
            <a:ext cx="1508186" cy="89991"/>
          </a:xfrm>
          <a:prstGeom prst="rect">
            <a:avLst/>
          </a:prstGeom>
          <a:noFill/>
          <a:ln/>
        </p:spPr>
        <p:txBody>
          <a:bodyPr wrap="none" lIns="0" tIns="0" rIns="0" bIns="0" rtlCol="0" anchor="t"/>
          <a:lstStyle/>
          <a:p>
            <a:pPr marL="0" indent="0" algn="l">
              <a:lnSpc>
                <a:spcPct val="96000"/>
              </a:lnSpc>
              <a:buNone/>
            </a:pPr>
            <a:r>
              <a:rPr lang="en-US" sz="600" dirty="0">
                <a:solidFill>
                  <a:srgbClr val="3B3535"/>
                </a:solidFill>
                <a:latin typeface="Sora Light" pitchFamily="34" charset="0"/>
                <a:ea typeface="Sora Light" pitchFamily="34" charset="-122"/>
                <a:cs typeface="Sora Light" pitchFamily="34" charset="-120"/>
              </a:rPr>
              <a:t>PROPOSED SOLUTION</a:t>
            </a:r>
            <a:endParaRPr lang="en-US" sz="600" dirty="0"/>
          </a:p>
        </p:txBody>
      </p:sp>
      <p:sp>
        <p:nvSpPr>
          <p:cNvPr id="4" name="Text 2"/>
          <p:cNvSpPr/>
          <p:nvPr/>
        </p:nvSpPr>
        <p:spPr>
          <a:xfrm>
            <a:off x="631908" y="750590"/>
            <a:ext cx="10927878" cy="321965"/>
          </a:xfrm>
          <a:prstGeom prst="rect">
            <a:avLst/>
          </a:prstGeom>
          <a:noFill/>
          <a:ln/>
        </p:spPr>
        <p:txBody>
          <a:bodyPr wrap="none" lIns="0" tIns="0" rIns="0" bIns="0" rtlCol="0" anchor="t"/>
          <a:lstStyle/>
          <a:p>
            <a:pPr marL="0" indent="0" algn="l">
              <a:lnSpc>
                <a:spcPct val="104000"/>
              </a:lnSpc>
              <a:buNone/>
            </a:pPr>
            <a:r>
              <a:rPr lang="en-US" sz="2000" dirty="0">
                <a:solidFill>
                  <a:srgbClr val="1F1E1E"/>
                </a:solidFill>
                <a:latin typeface="Sora SemiBold" pitchFamily="34" charset="0"/>
                <a:ea typeface="Sora SemiBold" pitchFamily="34" charset="-122"/>
                <a:cs typeface="Sora SemiBold" pitchFamily="34" charset="-120"/>
              </a:rPr>
              <a:t>WIPRO NMS — Centralized Network Monitoring, Telemetry and Alarm Management</a:t>
            </a:r>
            <a:endParaRPr lang="en-US" sz="2000" dirty="0"/>
          </a:p>
        </p:txBody>
      </p:sp>
      <p:sp>
        <p:nvSpPr>
          <p:cNvPr id="5" name="Text 3"/>
          <p:cNvSpPr/>
          <p:nvPr/>
        </p:nvSpPr>
        <p:spPr>
          <a:xfrm>
            <a:off x="631908" y="1163439"/>
            <a:ext cx="10927878" cy="253405"/>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WIPRO NMS is a centralized Network Management System designed to bring network device information, interface monitoring, telemetry processing, and alarm management into one unified platform. The system addresses each of the five core challenges through dedicated capabilities.</a:t>
            </a:r>
            <a:endParaRPr lang="en-US" sz="7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1485007"/>
            <a:ext cx="195654" cy="195659"/>
          </a:xfrm>
          <a:prstGeom prst="rect">
            <a:avLst/>
          </a:prstGeom>
        </p:spPr>
      </p:pic>
      <p:sp>
        <p:nvSpPr>
          <p:cNvPr id="7" name="Text 4"/>
          <p:cNvSpPr/>
          <p:nvPr/>
        </p:nvSpPr>
        <p:spPr>
          <a:xfrm>
            <a:off x="631908" y="1756370"/>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Device Management</a:t>
            </a:r>
            <a:endParaRPr lang="en-US" sz="1000" dirty="0"/>
          </a:p>
        </p:txBody>
      </p:sp>
      <p:sp>
        <p:nvSpPr>
          <p:cNvPr id="8" name="Text 5"/>
          <p:cNvSpPr/>
          <p:nvPr/>
        </p:nvSpPr>
        <p:spPr>
          <a:xfrm>
            <a:off x="631908" y="1953617"/>
            <a:ext cx="3592125" cy="506809"/>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Maintains centralized information about managed network devices: device identity, hostname, IP address, device type, operating information, and device association with interfaces. Provides a centralized inventory and operational view of managed network devices.</a:t>
            </a:r>
            <a:endParaRPr lang="en-US" sz="7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9735" y="1485007"/>
            <a:ext cx="195654" cy="195659"/>
          </a:xfrm>
          <a:prstGeom prst="rect">
            <a:avLst/>
          </a:prstGeom>
        </p:spPr>
      </p:pic>
      <p:sp>
        <p:nvSpPr>
          <p:cNvPr id="10" name="Text 6"/>
          <p:cNvSpPr/>
          <p:nvPr/>
        </p:nvSpPr>
        <p:spPr>
          <a:xfrm>
            <a:off x="4299735" y="1756370"/>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Interface Management</a:t>
            </a:r>
            <a:endParaRPr lang="en-US" sz="1000" dirty="0"/>
          </a:p>
        </p:txBody>
      </p:sp>
      <p:sp>
        <p:nvSpPr>
          <p:cNvPr id="11" name="Text 7"/>
          <p:cNvSpPr/>
          <p:nvPr/>
        </p:nvSpPr>
        <p:spPr>
          <a:xfrm>
            <a:off x="4299735" y="1953617"/>
            <a:ext cx="3592125" cy="380107"/>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Maintains information about individual network interfaces: interface identity, name, IP address, associated device, and operational status. Provides visibility into the operational state of individual interfaces.</a:t>
            </a:r>
            <a:endParaRPr lang="en-US" sz="7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7562" y="1485007"/>
            <a:ext cx="195654" cy="195659"/>
          </a:xfrm>
          <a:prstGeom prst="rect">
            <a:avLst/>
          </a:prstGeom>
        </p:spPr>
      </p:pic>
      <p:sp>
        <p:nvSpPr>
          <p:cNvPr id="13" name="Text 8"/>
          <p:cNvSpPr/>
          <p:nvPr/>
        </p:nvSpPr>
        <p:spPr>
          <a:xfrm>
            <a:off x="7967562" y="1756370"/>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Telemetry Monitoring</a:t>
            </a:r>
            <a:endParaRPr lang="en-US" sz="1000" dirty="0"/>
          </a:p>
        </p:txBody>
      </p:sp>
      <p:sp>
        <p:nvSpPr>
          <p:cNvPr id="14" name="Text 9"/>
          <p:cNvSpPr/>
          <p:nvPr/>
        </p:nvSpPr>
        <p:spPr>
          <a:xfrm>
            <a:off x="7967562" y="1953617"/>
            <a:ext cx="3592125" cy="506809"/>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Processes network monitoring information including interface operational status, device status, CPU metrics, memory metrics, interface traffic, and other network telemetry. Converts network activity into structured monitoring information.</a:t>
            </a:r>
            <a:endParaRPr lang="en-US" sz="7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1908" y="2581672"/>
            <a:ext cx="195654" cy="195659"/>
          </a:xfrm>
          <a:prstGeom prst="rect">
            <a:avLst/>
          </a:prstGeom>
        </p:spPr>
      </p:pic>
      <p:sp>
        <p:nvSpPr>
          <p:cNvPr id="16" name="Text 10"/>
          <p:cNvSpPr/>
          <p:nvPr/>
        </p:nvSpPr>
        <p:spPr>
          <a:xfrm>
            <a:off x="631908" y="2853035"/>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Alarm Management</a:t>
            </a:r>
            <a:endParaRPr lang="en-US" sz="1000" dirty="0"/>
          </a:p>
        </p:txBody>
      </p:sp>
      <p:sp>
        <p:nvSpPr>
          <p:cNvPr id="17" name="Text 11"/>
          <p:cNvSpPr/>
          <p:nvPr/>
        </p:nvSpPr>
        <p:spPr>
          <a:xfrm>
            <a:off x="631908" y="3050282"/>
            <a:ext cx="3592125" cy="633512"/>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Manages abnormal network conditions through a structured alarm lifecycle: alarm creation, updates, active alarm deduplication, alarm reopening where applicable, alarm clearing, and first-seen/last-seen tracking. Provides structured visibility into network faults and their current state.</a:t>
            </a:r>
            <a:endParaRPr lang="en-US" sz="7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99735" y="2581672"/>
            <a:ext cx="195654" cy="195659"/>
          </a:xfrm>
          <a:prstGeom prst="rect">
            <a:avLst/>
          </a:prstGeom>
        </p:spPr>
      </p:pic>
      <p:sp>
        <p:nvSpPr>
          <p:cNvPr id="19" name="Text 12"/>
          <p:cNvSpPr/>
          <p:nvPr/>
        </p:nvSpPr>
        <p:spPr>
          <a:xfrm>
            <a:off x="4299735" y="2853035"/>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Centralized Dashboard</a:t>
            </a:r>
            <a:endParaRPr lang="en-US" sz="1000" dirty="0"/>
          </a:p>
        </p:txBody>
      </p:sp>
      <p:sp>
        <p:nvSpPr>
          <p:cNvPr id="20" name="Text 13"/>
          <p:cNvSpPr/>
          <p:nvPr/>
        </p:nvSpPr>
        <p:spPr>
          <a:xfrm>
            <a:off x="4299735" y="3050282"/>
            <a:ext cx="3592125" cy="253405"/>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The web interface provides a unified operational view of devices, interfaces, telemetry, alarms, and network status.</a:t>
            </a:r>
            <a:endParaRPr lang="en-US" sz="75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67562" y="2581672"/>
            <a:ext cx="195654" cy="195659"/>
          </a:xfrm>
          <a:prstGeom prst="rect">
            <a:avLst/>
          </a:prstGeom>
        </p:spPr>
      </p:pic>
      <p:sp>
        <p:nvSpPr>
          <p:cNvPr id="22" name="Text 14"/>
          <p:cNvSpPr/>
          <p:nvPr/>
        </p:nvSpPr>
        <p:spPr>
          <a:xfrm>
            <a:off x="7967562" y="2853035"/>
            <a:ext cx="3592125" cy="160933"/>
          </a:xfrm>
          <a:prstGeom prst="rect">
            <a:avLst/>
          </a:prstGeom>
          <a:noFill/>
          <a:ln/>
        </p:spPr>
        <p:txBody>
          <a:bodyPr wrap="none" lIns="0" tIns="0" rIns="0" bIns="0" rtlCol="0" anchor="t"/>
          <a:lstStyle/>
          <a:p>
            <a:pPr marL="0" indent="0" algn="l">
              <a:lnSpc>
                <a:spcPct val="104000"/>
              </a:lnSpc>
              <a:buNone/>
            </a:pPr>
            <a:r>
              <a:rPr lang="en-US" sz="1000" dirty="0">
                <a:solidFill>
                  <a:srgbClr val="3B3535"/>
                </a:solidFill>
                <a:latin typeface="Sora SemiBold" pitchFamily="34" charset="0"/>
                <a:ea typeface="Sora SemiBold" pitchFamily="34" charset="-122"/>
                <a:cs typeface="Sora SemiBold" pitchFamily="34" charset="-120"/>
              </a:rPr>
              <a:t>AI-Powered Network Intelligence</a:t>
            </a:r>
            <a:endParaRPr lang="en-US" sz="1000" dirty="0"/>
          </a:p>
        </p:txBody>
      </p:sp>
      <p:sp>
        <p:nvSpPr>
          <p:cNvPr id="23" name="Text 15"/>
          <p:cNvSpPr/>
          <p:nvPr/>
        </p:nvSpPr>
        <p:spPr>
          <a:xfrm>
            <a:off x="7967562" y="3050282"/>
            <a:ext cx="3592125" cy="380107"/>
          </a:xfrm>
          <a:prstGeom prst="rect">
            <a:avLst/>
          </a:prstGeom>
          <a:noFill/>
          <a:ln/>
        </p:spPr>
        <p:txBody>
          <a:bodyPr wrap="square" lIns="0" tIns="0" rIns="0" bIns="0" rtlCol="0" anchor="t">
            <a:normAutofit/>
          </a:bodyPr>
          <a:lstStyle/>
          <a:p>
            <a:pPr marL="0" indent="0" algn="l">
              <a:lnSpc>
                <a:spcPct val="108000"/>
              </a:lnSpc>
              <a:buNone/>
            </a:pPr>
            <a:r>
              <a:rPr lang="en-US" sz="750" dirty="0">
                <a:solidFill>
                  <a:srgbClr val="3B3535"/>
                </a:solidFill>
                <a:latin typeface="Sora Light" pitchFamily="34" charset="0"/>
                <a:ea typeface="Sora Light" pitchFamily="34" charset="-122"/>
                <a:cs typeface="Sora Light" pitchFamily="34" charset="-120"/>
              </a:rPr>
              <a:t>Analyzes network data and alarms to detect anomalies, perform root-cause analysis, reduce alarm noise, predict potential failures, and explain incidents to the operator.</a:t>
            </a:r>
            <a:endParaRPr lang="en-US" sz="750" dirty="0"/>
          </a:p>
        </p:txBody>
      </p:sp>
      <p:pic>
        <p:nvPicPr>
          <p:cNvPr id="24" name="Image 6" descr="preencoded.png"/>
          <p:cNvPicPr>
            <a:picLocks noChangeAspect="1"/>
          </p:cNvPicPr>
          <p:nvPr/>
        </p:nvPicPr>
        <p:blipFill>
          <a:blip r:embed="rId9"/>
          <a:stretch>
            <a:fillRect/>
          </a:stretch>
        </p:blipFill>
        <p:spPr>
          <a:xfrm>
            <a:off x="3333964" y="3751957"/>
            <a:ext cx="5523766" cy="2528094"/>
          </a:xfrm>
          <a:prstGeom prst="rect">
            <a:avLst/>
          </a:prstGeom>
        </p:spPr>
      </p:pic>
      <p:sp>
        <p:nvSpPr>
          <p:cNvPr id="25" name="Text 16"/>
          <p:cNvSpPr/>
          <p:nvPr/>
        </p:nvSpPr>
        <p:spPr>
          <a:xfrm>
            <a:off x="7563528" y="5674381"/>
            <a:ext cx="1037039" cy="210320"/>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Deploy</a:t>
            </a:r>
            <a:endParaRPr lang="en-US" sz="1300" dirty="0"/>
          </a:p>
        </p:txBody>
      </p:sp>
      <p:sp>
        <p:nvSpPr>
          <p:cNvPr id="26" name="Text 17"/>
          <p:cNvSpPr/>
          <p:nvPr/>
        </p:nvSpPr>
        <p:spPr>
          <a:xfrm>
            <a:off x="6256574" y="5674381"/>
            <a:ext cx="1037040" cy="210320"/>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Review</a:t>
            </a:r>
            <a:endParaRPr lang="en-US" sz="1300" dirty="0"/>
          </a:p>
        </p:txBody>
      </p:sp>
      <p:sp>
        <p:nvSpPr>
          <p:cNvPr id="27" name="Text 18"/>
          <p:cNvSpPr/>
          <p:nvPr/>
        </p:nvSpPr>
        <p:spPr>
          <a:xfrm>
            <a:off x="4956724" y="5674381"/>
            <a:ext cx="1037039" cy="210320"/>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Create</a:t>
            </a:r>
            <a:endParaRPr lang="en-US" sz="1300" dirty="0"/>
          </a:p>
        </p:txBody>
      </p:sp>
      <p:sp>
        <p:nvSpPr>
          <p:cNvPr id="28" name="Text 19"/>
          <p:cNvSpPr/>
          <p:nvPr/>
        </p:nvSpPr>
        <p:spPr>
          <a:xfrm>
            <a:off x="3628461" y="5674381"/>
            <a:ext cx="1037039" cy="210320"/>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Plan</a:t>
            </a:r>
            <a:endParaRPr lang="en-US" sz="1300" dirty="0"/>
          </a:p>
        </p:txBody>
      </p:sp>
      <p:pic>
        <p:nvPicPr>
          <p:cNvPr id="32" name="Picture 31">
            <a:extLst>
              <a:ext uri="{FF2B5EF4-FFF2-40B4-BE49-F238E27FC236}">
                <a16:creationId xmlns:a16="http://schemas.microsoft.com/office/drawing/2014/main" id="{D746C44C-9E8B-CB92-51E0-321FF6D88CCF}"/>
              </a:ext>
            </a:extLst>
          </p:cNvPr>
          <p:cNvPicPr>
            <a:picLocks noChangeAspect="1"/>
          </p:cNvPicPr>
          <p:nvPr/>
        </p:nvPicPr>
        <p:blipFill>
          <a:blip r:embed="rId10"/>
          <a:stretch>
            <a:fillRect/>
          </a:stretch>
        </p:blipFill>
        <p:spPr>
          <a:xfrm>
            <a:off x="10304106" y="6168859"/>
            <a:ext cx="1844200" cy="6325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1908" y="498177"/>
            <a:ext cx="790357" cy="112117"/>
          </a:xfrm>
          <a:prstGeom prst="roundRect">
            <a:avLst>
              <a:gd name="adj" fmla="val 22119"/>
            </a:avLst>
          </a:prstGeom>
          <a:solidFill>
            <a:srgbClr val="F9D2D6"/>
          </a:solidFill>
          <a:ln/>
        </p:spPr>
      </p:sp>
      <p:sp>
        <p:nvSpPr>
          <p:cNvPr id="3" name="Text 1"/>
          <p:cNvSpPr/>
          <p:nvPr/>
        </p:nvSpPr>
        <p:spPr>
          <a:xfrm>
            <a:off x="676159" y="520303"/>
            <a:ext cx="1311441" cy="67866"/>
          </a:xfrm>
          <a:prstGeom prst="rect">
            <a:avLst/>
          </a:prstGeom>
          <a:noFill/>
          <a:ln/>
        </p:spPr>
        <p:txBody>
          <a:bodyPr wrap="none" lIns="0" tIns="0" rIns="0" bIns="0" rtlCol="0" anchor="t"/>
          <a:lstStyle/>
          <a:p>
            <a:pPr marL="0" indent="0" algn="l">
              <a:lnSpc>
                <a:spcPct val="96000"/>
              </a:lnSpc>
              <a:buNone/>
            </a:pPr>
            <a:r>
              <a:rPr lang="en-US" sz="450" dirty="0">
                <a:solidFill>
                  <a:srgbClr val="3B3535"/>
                </a:solidFill>
                <a:latin typeface="Sora Light" pitchFamily="34" charset="0"/>
                <a:ea typeface="Sora Light" pitchFamily="34" charset="-122"/>
                <a:cs typeface="Sora Light" pitchFamily="34" charset="-120"/>
              </a:rPr>
              <a:t>SYSTEM COMPONENTS</a:t>
            </a:r>
            <a:endParaRPr lang="en-US" sz="450" dirty="0"/>
          </a:p>
        </p:txBody>
      </p:sp>
      <p:sp>
        <p:nvSpPr>
          <p:cNvPr id="4" name="Text 2"/>
          <p:cNvSpPr/>
          <p:nvPr/>
        </p:nvSpPr>
        <p:spPr>
          <a:xfrm>
            <a:off x="631908" y="624086"/>
            <a:ext cx="10927878" cy="242788"/>
          </a:xfrm>
          <a:prstGeom prst="rect">
            <a:avLst/>
          </a:prstGeom>
          <a:noFill/>
          <a:ln/>
        </p:spPr>
        <p:txBody>
          <a:bodyPr wrap="none" lIns="0" tIns="0" rIns="0" bIns="0" rtlCol="0" anchor="t"/>
          <a:lstStyle/>
          <a:p>
            <a:pPr marL="0" indent="0" algn="l">
              <a:lnSpc>
                <a:spcPct val="104000"/>
              </a:lnSpc>
              <a:buNone/>
            </a:pPr>
            <a:r>
              <a:rPr lang="en-US" sz="1500" dirty="0">
                <a:solidFill>
                  <a:srgbClr val="1F1E1E"/>
                </a:solidFill>
                <a:latin typeface="Sora SemiBold" pitchFamily="34" charset="0"/>
                <a:ea typeface="Sora SemiBold" pitchFamily="34" charset="-122"/>
                <a:cs typeface="Sora SemiBold" pitchFamily="34" charset="-120"/>
              </a:rPr>
              <a:t>WIPRO NMS — System Components and Working</a:t>
            </a:r>
            <a:endParaRPr lang="en-US" sz="1500" dirty="0"/>
          </a:p>
        </p:txBody>
      </p:sp>
      <p:sp>
        <p:nvSpPr>
          <p:cNvPr id="5" name="Text 3"/>
          <p:cNvSpPr/>
          <p:nvPr/>
        </p:nvSpPr>
        <p:spPr>
          <a:xfrm>
            <a:off x="631908" y="918567"/>
            <a:ext cx="11537463" cy="86618"/>
          </a:xfrm>
          <a:prstGeom prst="rect">
            <a:avLst/>
          </a:prstGeom>
          <a:noFill/>
          <a:ln/>
        </p:spPr>
        <p:txBody>
          <a:bodyPr wrap="none" lIns="0" tIns="0" rIns="0" bIns="0" rtlCol="0" anchor="t"/>
          <a:lstStyle/>
          <a:p>
            <a:pPr marL="0" indent="0" algn="l">
              <a:lnSpc>
                <a:spcPct val="98000"/>
              </a:lnSpc>
              <a:buNone/>
            </a:pPr>
            <a:r>
              <a:rPr lang="en-US" sz="550" dirty="0">
                <a:solidFill>
                  <a:srgbClr val="3B3535"/>
                </a:solidFill>
                <a:latin typeface="Sora Light" pitchFamily="34" charset="0"/>
                <a:ea typeface="Sora Light" pitchFamily="34" charset="-122"/>
                <a:cs typeface="Sora Light" pitchFamily="34" charset="-120"/>
              </a:rPr>
              <a:t>The six core components of WIPRO NMS work together to deliver end-to-end network monitoring, from simulation and telemetry ingestion to alarm handling, persistence, and dashboard visualization.</a:t>
            </a:r>
            <a:endParaRPr lang="en-US" sz="550" dirty="0"/>
          </a:p>
        </p:txBody>
      </p:sp>
      <p:sp>
        <p:nvSpPr>
          <p:cNvPr id="6" name="Shape 4"/>
          <p:cNvSpPr/>
          <p:nvPr/>
        </p:nvSpPr>
        <p:spPr>
          <a:xfrm>
            <a:off x="578728" y="1043880"/>
            <a:ext cx="5480310" cy="3187898"/>
          </a:xfrm>
          <a:prstGeom prst="roundRect">
            <a:avLst>
              <a:gd name="adj" fmla="val 1667"/>
            </a:avLst>
          </a:prstGeom>
          <a:solidFill>
            <a:srgbClr val="DA1B2E"/>
          </a:solidFill>
          <a:ln/>
        </p:spPr>
      </p:sp>
      <p:sp>
        <p:nvSpPr>
          <p:cNvPr id="7" name="Text 5"/>
          <p:cNvSpPr/>
          <p:nvPr/>
        </p:nvSpPr>
        <p:spPr>
          <a:xfrm>
            <a:off x="652446" y="1078309"/>
            <a:ext cx="5332874" cy="121345"/>
          </a:xfrm>
          <a:prstGeom prst="rect">
            <a:avLst/>
          </a:prstGeom>
          <a:noFill/>
          <a:ln/>
        </p:spPr>
        <p:txBody>
          <a:bodyPr wrap="none" lIns="0" tIns="0" rIns="0" bIns="0" rtlCol="0" anchor="t"/>
          <a:lstStyle/>
          <a:p>
            <a:pPr marL="0" indent="0" algn="l">
              <a:lnSpc>
                <a:spcPct val="104000"/>
              </a:lnSpc>
              <a:buNone/>
            </a:pPr>
            <a:r>
              <a:rPr lang="en-US" sz="750" dirty="0">
                <a:solidFill>
                  <a:srgbClr val="FFFFFF"/>
                </a:solidFill>
                <a:latin typeface="Sora SemiBold" pitchFamily="34" charset="0"/>
                <a:ea typeface="Sora SemiBold" pitchFamily="34" charset="-122"/>
                <a:cs typeface="Sora SemiBold" pitchFamily="34" charset="-120"/>
              </a:rPr>
              <a:t>1. Network Simulation — GNS3 + FRRouting</a:t>
            </a:r>
            <a:endParaRPr lang="en-US" sz="750" dirty="0"/>
          </a:p>
        </p:txBody>
      </p:sp>
      <p:sp>
        <p:nvSpPr>
          <p:cNvPr id="8" name="Text 6"/>
          <p:cNvSpPr/>
          <p:nvPr/>
        </p:nvSpPr>
        <p:spPr>
          <a:xfrm>
            <a:off x="652446" y="1234083"/>
            <a:ext cx="5332874" cy="668238"/>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FFFFFF"/>
                </a:solidFill>
                <a:latin typeface="Sora Light" pitchFamily="34" charset="0"/>
                <a:ea typeface="Sora Light" pitchFamily="34" charset="-122"/>
                <a:cs typeface="Sora Light" pitchFamily="34" charset="-120"/>
              </a:rPr>
              <a:t>GNS3 provides the virtual lab environment used to build and validate the topology before deployment. The simulated routers (R1, R2, R3) run FRRouting, advertise routes, exchange traffic, and expose real interface states such as link up/down, administrative status, and routing adjacency changes. This lets the NMS observe realistic device behavior without requiring physical hardware.</a:t>
            </a:r>
            <a:endParaRPr lang="en-US" sz="550" dirty="0"/>
          </a:p>
          <a:p>
            <a:pPr marL="0" indent="0" algn="l">
              <a:lnSpc>
                <a:spcPct val="98000"/>
              </a:lnSpc>
              <a:spcAft>
                <a:spcPts val="200"/>
              </a:spcAft>
              <a:buNone/>
            </a:pPr>
            <a:r>
              <a:rPr lang="en-US" sz="550" b="1" dirty="0">
                <a:solidFill>
                  <a:srgbClr val="FFFFFF"/>
                </a:solidFill>
                <a:latin typeface="Sora Bold" pitchFamily="34" charset="0"/>
                <a:ea typeface="Sora Bold" pitchFamily="34" charset="-122"/>
                <a:cs typeface="Sora Bold" pitchFamily="34" charset="-120"/>
              </a:rPr>
              <a:t>Role:</a:t>
            </a:r>
            <a:r>
              <a:rPr lang="en-US" sz="550" dirty="0">
                <a:solidFill>
                  <a:srgbClr val="FFFFFF"/>
                </a:solidFill>
                <a:latin typeface="Sora Light" pitchFamily="34" charset="0"/>
                <a:ea typeface="Sora Light" pitchFamily="34" charset="-122"/>
                <a:cs typeface="Sora Light" pitchFamily="34" charset="-120"/>
              </a:rPr>
              <a:t> Create the network topology, emulate routers and links, generate operational events such as interface failures or route changes, and provide a controlled environment for testing monitoring and alarm logic.</a:t>
            </a:r>
            <a:endParaRPr lang="en-US" sz="550" dirty="0"/>
          </a:p>
          <a:p>
            <a:pPr marL="0" indent="0" algn="l">
              <a:lnSpc>
                <a:spcPct val="98000"/>
              </a:lnSpc>
              <a:buNone/>
            </a:pPr>
            <a:r>
              <a:rPr lang="en-US" sz="550" b="1" dirty="0">
                <a:solidFill>
                  <a:srgbClr val="FFFFFF"/>
                </a:solidFill>
                <a:latin typeface="Sora Bold" pitchFamily="34" charset="0"/>
                <a:ea typeface="Sora Bold" pitchFamily="34" charset="-122"/>
                <a:cs typeface="Sora Bold" pitchFamily="34" charset="-120"/>
              </a:rPr>
              <a:t>Example data source:</a:t>
            </a:r>
            <a:r>
              <a:rPr lang="en-US" sz="550" dirty="0">
                <a:solidFill>
                  <a:srgbClr val="FFFFFF"/>
                </a:solidFill>
                <a:latin typeface="Sora Light" pitchFamily="34" charset="0"/>
                <a:ea typeface="Sora Light" pitchFamily="34" charset="-122"/>
                <a:cs typeface="Sora Light" pitchFamily="34" charset="-120"/>
              </a:rPr>
              <a:t> R1 ←→ R2 ←→ R3, with each router exposing interface counters, reachability, and protocol state that the NMS can poll or receive via telemetry.</a:t>
            </a:r>
            <a:endParaRPr lang="en-US" sz="550" dirty="0"/>
          </a:p>
        </p:txBody>
      </p:sp>
      <p:sp>
        <p:nvSpPr>
          <p:cNvPr id="9" name="Text 7"/>
          <p:cNvSpPr/>
          <p:nvPr/>
        </p:nvSpPr>
        <p:spPr>
          <a:xfrm>
            <a:off x="652446" y="1936750"/>
            <a:ext cx="5332874" cy="121345"/>
          </a:xfrm>
          <a:prstGeom prst="rect">
            <a:avLst/>
          </a:prstGeom>
          <a:noFill/>
          <a:ln/>
        </p:spPr>
        <p:txBody>
          <a:bodyPr wrap="none" lIns="0" tIns="0" rIns="0" bIns="0" rtlCol="0" anchor="t"/>
          <a:lstStyle/>
          <a:p>
            <a:pPr marL="0" indent="0" algn="l">
              <a:lnSpc>
                <a:spcPct val="104000"/>
              </a:lnSpc>
              <a:buNone/>
            </a:pPr>
            <a:r>
              <a:rPr lang="en-US" sz="750" dirty="0">
                <a:solidFill>
                  <a:srgbClr val="FFFFFF"/>
                </a:solidFill>
                <a:latin typeface="Sora SemiBold" pitchFamily="34" charset="0"/>
                <a:ea typeface="Sora SemiBold" pitchFamily="34" charset="-122"/>
                <a:cs typeface="Sora SemiBold" pitchFamily="34" charset="-120"/>
              </a:rPr>
              <a:t>2. Monitoring &amp; Data Collection — SNMP / Telemetry</a:t>
            </a:r>
            <a:endParaRPr lang="en-US" sz="750" dirty="0"/>
          </a:p>
        </p:txBody>
      </p:sp>
      <p:sp>
        <p:nvSpPr>
          <p:cNvPr id="10" name="Text 8"/>
          <p:cNvSpPr/>
          <p:nvPr/>
        </p:nvSpPr>
        <p:spPr>
          <a:xfrm>
            <a:off x="652446" y="2092523"/>
            <a:ext cx="5332874" cy="581620"/>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FFFFFF"/>
                </a:solidFill>
                <a:latin typeface="Sora Light" pitchFamily="34" charset="0"/>
                <a:ea typeface="Sora Light" pitchFamily="34" charset="-122"/>
                <a:cs typeface="Sora Light" pitchFamily="34" charset="-120"/>
              </a:rPr>
              <a:t>Network devices expose operational data that the NMS collects continuously. SNMP polling retrieves structured values such as interface ifOperStatus and ifAdminStatus, traffic counters (inOctets/outOctets), error counters (CRC, drops, discards), CPU utilization, memory usage, and device uptime. Telemetry updates can also be pushed at intervals to capture near-real-time changes in operational state.</a:t>
            </a:r>
            <a:endParaRPr lang="en-US" sz="550" dirty="0"/>
          </a:p>
          <a:p>
            <a:pPr marL="0" indent="0" algn="l">
              <a:lnSpc>
                <a:spcPct val="98000"/>
              </a:lnSpc>
              <a:spcAft>
                <a:spcPts val="200"/>
              </a:spcAft>
              <a:buNone/>
            </a:pPr>
            <a:r>
              <a:rPr lang="en-US" sz="550" b="1" dirty="0">
                <a:solidFill>
                  <a:srgbClr val="FFFFFF"/>
                </a:solidFill>
                <a:latin typeface="Sora Bold" pitchFamily="34" charset="0"/>
                <a:ea typeface="Sora Bold" pitchFamily="34" charset="-122"/>
                <a:cs typeface="Sora Bold" pitchFamily="34" charset="-120"/>
              </a:rPr>
              <a:t>Flow:</a:t>
            </a:r>
            <a:r>
              <a:rPr lang="en-US" sz="550" dirty="0">
                <a:solidFill>
                  <a:srgbClr val="FFFFFF"/>
                </a:solidFill>
                <a:latin typeface="Sora Light" pitchFamily="34" charset="0"/>
                <a:ea typeface="Sora Light" pitchFamily="34" charset="-122"/>
                <a:cs typeface="Sora Light" pitchFamily="34" charset="-120"/>
              </a:rPr>
              <a:t> Network Device → SNMP/Telemetry Collector → Parsed Monitoring Data → NMS backend</a:t>
            </a:r>
            <a:endParaRPr lang="en-US" sz="550" dirty="0"/>
          </a:p>
          <a:p>
            <a:pPr marL="0" indent="0" algn="l">
              <a:lnSpc>
                <a:spcPct val="98000"/>
              </a:lnSpc>
              <a:buNone/>
            </a:pPr>
            <a:r>
              <a:rPr lang="en-US" sz="550" b="1" dirty="0">
                <a:solidFill>
                  <a:srgbClr val="FFFFFF"/>
                </a:solidFill>
                <a:latin typeface="Sora Bold" pitchFamily="34" charset="0"/>
                <a:ea typeface="Sora Bold" pitchFamily="34" charset="-122"/>
                <a:cs typeface="Sora Bold" pitchFamily="34" charset="-120"/>
              </a:rPr>
              <a:t>What is collected:</a:t>
            </a:r>
            <a:r>
              <a:rPr lang="en-US" sz="550" dirty="0">
                <a:solidFill>
                  <a:srgbClr val="FFFFFF"/>
                </a:solidFill>
                <a:latin typeface="Sora Light" pitchFamily="34" charset="0"/>
                <a:ea typeface="Sora Light" pitchFamily="34" charset="-122"/>
                <a:cs typeface="Sora Light" pitchFamily="34" charset="-120"/>
              </a:rPr>
              <a:t> interface status, bandwidth utilization, packet errors, CPU/memory load, system uptime, and interface traffic trends used to detect degradation or outages.</a:t>
            </a:r>
            <a:endParaRPr lang="en-US" sz="550" dirty="0"/>
          </a:p>
        </p:txBody>
      </p:sp>
      <p:sp>
        <p:nvSpPr>
          <p:cNvPr id="11" name="Text 9"/>
          <p:cNvSpPr/>
          <p:nvPr/>
        </p:nvSpPr>
        <p:spPr>
          <a:xfrm>
            <a:off x="652446" y="2708573"/>
            <a:ext cx="5332874" cy="121345"/>
          </a:xfrm>
          <a:prstGeom prst="rect">
            <a:avLst/>
          </a:prstGeom>
          <a:noFill/>
          <a:ln/>
        </p:spPr>
        <p:txBody>
          <a:bodyPr wrap="none" lIns="0" tIns="0" rIns="0" bIns="0" rtlCol="0" anchor="t"/>
          <a:lstStyle/>
          <a:p>
            <a:pPr marL="0" indent="0" algn="l">
              <a:lnSpc>
                <a:spcPct val="104000"/>
              </a:lnSpc>
              <a:buNone/>
            </a:pPr>
            <a:r>
              <a:rPr lang="en-US" sz="750" dirty="0">
                <a:solidFill>
                  <a:srgbClr val="FFFFFF"/>
                </a:solidFill>
                <a:latin typeface="Sora SemiBold" pitchFamily="34" charset="0"/>
                <a:ea typeface="Sora SemiBold" pitchFamily="34" charset="-122"/>
                <a:cs typeface="Sora SemiBold" pitchFamily="34" charset="-120"/>
              </a:rPr>
              <a:t>3. Backend &amp; REST API — Java 21 + Spring Boot 4.0.8</a:t>
            </a:r>
            <a:endParaRPr lang="en-US" sz="750" dirty="0"/>
          </a:p>
        </p:txBody>
      </p:sp>
      <p:sp>
        <p:nvSpPr>
          <p:cNvPr id="12" name="Text 10"/>
          <p:cNvSpPr/>
          <p:nvPr/>
        </p:nvSpPr>
        <p:spPr>
          <a:xfrm>
            <a:off x="652446" y="2864346"/>
            <a:ext cx="5332874" cy="668238"/>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FFFFFF"/>
                </a:solidFill>
                <a:latin typeface="Sora Light" pitchFamily="34" charset="0"/>
                <a:ea typeface="Sora Light" pitchFamily="34" charset="-122"/>
                <a:cs typeface="Sora Light" pitchFamily="34" charset="-120"/>
              </a:rPr>
              <a:t>The backend acts as the central application layer. Spring Boot services expose REST endpoints for device inventory, interface status, telemetry history, and alarm records. Service components validate incoming requests, map raw telemetry into domain models, apply business rules, and coordinate persistence through repository classes. The API layer also powers dashboard queries such as device summaries, active alarms, and time-series telemetry views.</a:t>
            </a:r>
            <a:endParaRPr lang="en-US" sz="550" dirty="0"/>
          </a:p>
          <a:p>
            <a:pPr marL="0" indent="0" algn="l">
              <a:lnSpc>
                <a:spcPct val="98000"/>
              </a:lnSpc>
              <a:spcAft>
                <a:spcPts val="200"/>
              </a:spcAft>
              <a:buNone/>
            </a:pPr>
            <a:r>
              <a:rPr lang="en-US" sz="550" b="1" dirty="0">
                <a:solidFill>
                  <a:srgbClr val="FFFFFF"/>
                </a:solidFill>
                <a:latin typeface="Sora Bold" pitchFamily="34" charset="0"/>
                <a:ea typeface="Sora Bold" pitchFamily="34" charset="-122"/>
                <a:cs typeface="Sora Bold" pitchFamily="34" charset="-120"/>
              </a:rPr>
              <a:t>Flow:</a:t>
            </a:r>
            <a:r>
              <a:rPr lang="en-US" sz="550" dirty="0">
                <a:solidFill>
                  <a:srgbClr val="FFFFFF"/>
                </a:solidFill>
                <a:latin typeface="Sora Light" pitchFamily="34" charset="0"/>
                <a:ea typeface="Sora Light" pitchFamily="34" charset="-122"/>
                <a:cs typeface="Sora Light" pitchFamily="34" charset="-120"/>
              </a:rPr>
              <a:t> Client / Frontend → REST API → Controller Layer → Service Layer → Repository Layer → PostgreSQL</a:t>
            </a:r>
            <a:endParaRPr lang="en-US" sz="550" dirty="0"/>
          </a:p>
          <a:p>
            <a:pPr marL="0" indent="0" algn="l">
              <a:lnSpc>
                <a:spcPct val="98000"/>
              </a:lnSpc>
              <a:buNone/>
            </a:pPr>
            <a:r>
              <a:rPr lang="en-US" sz="550" b="1" dirty="0">
                <a:solidFill>
                  <a:srgbClr val="FFFFFF"/>
                </a:solidFill>
                <a:latin typeface="Sora Bold" pitchFamily="34" charset="0"/>
                <a:ea typeface="Sora Bold" pitchFamily="34" charset="-122"/>
                <a:cs typeface="Sora Bold" pitchFamily="34" charset="-120"/>
              </a:rPr>
              <a:t>Specific responsibilities:</a:t>
            </a:r>
            <a:r>
              <a:rPr lang="en-US" sz="550" dirty="0">
                <a:solidFill>
                  <a:srgbClr val="FFFFFF"/>
                </a:solidFill>
                <a:latin typeface="Sora Light" pitchFamily="34" charset="0"/>
                <a:ea typeface="Sora Light" pitchFamily="34" charset="-122"/>
                <a:cs typeface="Sora Light" pitchFamily="34" charset="-120"/>
              </a:rPr>
              <a:t> normalize device and interface identifiers, look up related records, enforce alarm deduplication rules, compute current operational state, and expose filtered data for list views, detail pages, and chart panels.</a:t>
            </a:r>
            <a:endParaRPr lang="en-US" sz="550" dirty="0"/>
          </a:p>
        </p:txBody>
      </p:sp>
      <p:sp>
        <p:nvSpPr>
          <p:cNvPr id="13" name="Text 11"/>
          <p:cNvSpPr/>
          <p:nvPr/>
        </p:nvSpPr>
        <p:spPr>
          <a:xfrm>
            <a:off x="6192186" y="1078309"/>
            <a:ext cx="5373950" cy="121345"/>
          </a:xfrm>
          <a:prstGeom prst="rect">
            <a:avLst/>
          </a:prstGeom>
          <a:noFill/>
          <a:ln/>
        </p:spPr>
        <p:txBody>
          <a:bodyPr wrap="none" lIns="0" tIns="0" rIns="0" bIns="0" rtlCol="0" anchor="t"/>
          <a:lstStyle/>
          <a:p>
            <a:pPr marL="0" indent="0" algn="l">
              <a:lnSpc>
                <a:spcPct val="104000"/>
              </a:lnSpc>
              <a:buNone/>
            </a:pPr>
            <a:r>
              <a:rPr lang="en-US" sz="750" dirty="0">
                <a:solidFill>
                  <a:srgbClr val="1F1E1E"/>
                </a:solidFill>
                <a:latin typeface="Sora SemiBold" pitchFamily="34" charset="0"/>
                <a:ea typeface="Sora SemiBold" pitchFamily="34" charset="-122"/>
                <a:cs typeface="Sora SemiBold" pitchFamily="34" charset="-120"/>
              </a:rPr>
              <a:t>4. Telemetry Processing</a:t>
            </a:r>
            <a:endParaRPr lang="en-US" sz="750" dirty="0"/>
          </a:p>
        </p:txBody>
      </p:sp>
      <p:sp>
        <p:nvSpPr>
          <p:cNvPr id="14" name="Text 12"/>
          <p:cNvSpPr/>
          <p:nvPr/>
        </p:nvSpPr>
        <p:spPr>
          <a:xfrm>
            <a:off x="6192186" y="1234083"/>
            <a:ext cx="5373950" cy="841474"/>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3B3535"/>
                </a:solidFill>
                <a:latin typeface="Sora Light" pitchFamily="34" charset="0"/>
                <a:ea typeface="Sora Light" pitchFamily="34" charset="-122"/>
                <a:cs typeface="Sora Light" pitchFamily="34" charset="-120"/>
              </a:rPr>
              <a:t>Telemetry received by the system is processed by backend services in a multi-step pipeline. The backend first parses the payload, identifies the metric name and timestamp, associates it with the correct device and interface, and then applies metric-specific interpretation rules. For example, interface_oper_status = 1 is translated to UP, while interface_oper_status = 0 is translated to DOWN. Similar logic can be applied to CPU thresholds, memory pressure, and traffic spikes to determine whether the observation is normal or requires attention.</a:t>
            </a:r>
            <a:endParaRPr lang="en-US" sz="550" dirty="0"/>
          </a:p>
          <a:p>
            <a:pPr marL="0" indent="0" algn="l">
              <a:lnSpc>
                <a:spcPct val="98000"/>
              </a:lnSpc>
              <a:spcAft>
                <a:spcPts val="200"/>
              </a:spcAft>
              <a:buNone/>
            </a:pPr>
            <a:r>
              <a:rPr lang="en-US" sz="550" b="1" dirty="0">
                <a:solidFill>
                  <a:srgbClr val="3B3535"/>
                </a:solidFill>
                <a:latin typeface="Sora Bold" pitchFamily="34" charset="0"/>
                <a:ea typeface="Sora Bold" pitchFamily="34" charset="-122"/>
                <a:cs typeface="Sora Bold" pitchFamily="34" charset="-120"/>
              </a:rPr>
              <a:t>Processing steps:</a:t>
            </a:r>
            <a:r>
              <a:rPr lang="en-US" sz="550" dirty="0">
                <a:solidFill>
                  <a:srgbClr val="3B3535"/>
                </a:solidFill>
                <a:latin typeface="Sora Light" pitchFamily="34" charset="0"/>
                <a:ea typeface="Sora Light" pitchFamily="34" charset="-122"/>
                <a:cs typeface="Sora Light" pitchFamily="34" charset="-120"/>
              </a:rPr>
              <a:t> receive telemetry → validate payload → identify metric → map to device/interface → persist raw and processed values → evaluate state transition → emit monitoring result.</a:t>
            </a:r>
            <a:endParaRPr lang="en-US" sz="550" dirty="0"/>
          </a:p>
          <a:p>
            <a:pPr marL="0" indent="0" algn="l">
              <a:lnSpc>
                <a:spcPct val="98000"/>
              </a:lnSpc>
              <a:buNone/>
            </a:pPr>
            <a:r>
              <a:rPr lang="en-US" sz="550" b="1" dirty="0">
                <a:solidFill>
                  <a:srgbClr val="3B3535"/>
                </a:solidFill>
                <a:latin typeface="Sora Bold" pitchFamily="34" charset="0"/>
                <a:ea typeface="Sora Bold" pitchFamily="34" charset="-122"/>
                <a:cs typeface="Sora Bold" pitchFamily="34" charset="-120"/>
              </a:rPr>
              <a:t>Example:</a:t>
            </a:r>
            <a:endParaRPr lang="en-US" sz="550" dirty="0"/>
          </a:p>
          <a:p>
            <a:pPr marL="0" indent="0" algn="l">
              <a:lnSpc>
                <a:spcPct val="98000"/>
              </a:lnSpc>
              <a:buNone/>
            </a:pPr>
            <a:r>
              <a:rPr lang="en-US" sz="550" dirty="0">
                <a:solidFill>
                  <a:srgbClr val="3B3535"/>
                </a:solidFill>
                <a:latin typeface="Sora Light" pitchFamily="34" charset="0"/>
                <a:ea typeface="Sora Light" pitchFamily="34" charset="-122"/>
                <a:cs typeface="Sora Light" pitchFamily="34" charset="-120"/>
              </a:rPr>
              <a:t>interface_oper_status = 1 → Interface UP → normal state recorded</a:t>
            </a:r>
            <a:endParaRPr lang="en-US" sz="550" dirty="0"/>
          </a:p>
          <a:p>
            <a:pPr marL="0" indent="0" algn="l">
              <a:lnSpc>
                <a:spcPct val="98000"/>
              </a:lnSpc>
              <a:buNone/>
            </a:pPr>
            <a:r>
              <a:rPr lang="en-US" sz="550" dirty="0">
                <a:solidFill>
                  <a:srgbClr val="3B3535"/>
                </a:solidFill>
                <a:latin typeface="Sora Light" pitchFamily="34" charset="0"/>
                <a:ea typeface="Sora Light" pitchFamily="34" charset="-122"/>
                <a:cs typeface="Sora Light" pitchFamily="34" charset="-120"/>
              </a:rPr>
              <a:t>interface_oper_status = 0 → Interface DOWN → fault condition detected and forwarded to alarm logic</a:t>
            </a:r>
            <a:endParaRPr lang="en-US" sz="550" dirty="0"/>
          </a:p>
        </p:txBody>
      </p:sp>
      <p:sp>
        <p:nvSpPr>
          <p:cNvPr id="15" name="Text 13"/>
          <p:cNvSpPr/>
          <p:nvPr/>
        </p:nvSpPr>
        <p:spPr>
          <a:xfrm>
            <a:off x="6192186" y="2109986"/>
            <a:ext cx="5373950" cy="121345"/>
          </a:xfrm>
          <a:prstGeom prst="rect">
            <a:avLst/>
          </a:prstGeom>
          <a:noFill/>
          <a:ln/>
        </p:spPr>
        <p:txBody>
          <a:bodyPr wrap="none" lIns="0" tIns="0" rIns="0" bIns="0" rtlCol="0" anchor="t"/>
          <a:lstStyle/>
          <a:p>
            <a:pPr marL="0" indent="0" algn="l">
              <a:lnSpc>
                <a:spcPct val="104000"/>
              </a:lnSpc>
              <a:buNone/>
            </a:pPr>
            <a:r>
              <a:rPr lang="en-US" sz="750" dirty="0">
                <a:solidFill>
                  <a:srgbClr val="1F1E1E"/>
                </a:solidFill>
                <a:latin typeface="Sora SemiBold" pitchFamily="34" charset="0"/>
                <a:ea typeface="Sora SemiBold" pitchFamily="34" charset="-122"/>
                <a:cs typeface="Sora SemiBold" pitchFamily="34" charset="-120"/>
              </a:rPr>
              <a:t>5. Alarm Engine</a:t>
            </a:r>
            <a:endParaRPr lang="en-US" sz="750" dirty="0"/>
          </a:p>
        </p:txBody>
      </p:sp>
      <p:sp>
        <p:nvSpPr>
          <p:cNvPr id="16" name="Text 14"/>
          <p:cNvSpPr/>
          <p:nvPr/>
        </p:nvSpPr>
        <p:spPr>
          <a:xfrm>
            <a:off x="6192186" y="2265759"/>
            <a:ext cx="5373950" cy="872430"/>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3B3535"/>
                </a:solidFill>
                <a:latin typeface="Sora Light" pitchFamily="34" charset="0"/>
                <a:ea typeface="Sora Light" pitchFamily="34" charset="-122"/>
                <a:cs typeface="Sora Light" pitchFamily="34" charset="-120"/>
              </a:rPr>
              <a:t>The alarm engine manages detected network faults through a structured lifecycle: NORMAL → FAULT DETECTED → ALARM OPENED → ALARM UPDATED WHILE ACTIVE → CONDITION RECOVERED → ALARM CLEARED. When a monitored condition crosses a defined rule or threshold, the engine creates an alarm with a deterministic identifier so repeated polls do not create duplicates. If the fault persists, the existing alarm is updated with the latest timestamps, severity, and state. When the device or interface recovers, the alarm is closed and marked cleared.</a:t>
            </a:r>
            <a:endParaRPr lang="en-US" sz="550" dirty="0"/>
          </a:p>
          <a:p>
            <a:pPr marL="0" indent="0" algn="l">
              <a:lnSpc>
                <a:spcPct val="98000"/>
              </a:lnSpc>
              <a:spcAft>
                <a:spcPts val="200"/>
              </a:spcAft>
              <a:buNone/>
            </a:pPr>
            <a:r>
              <a:rPr lang="en-US" sz="550" b="1" dirty="0">
                <a:solidFill>
                  <a:srgbClr val="3B3535"/>
                </a:solidFill>
                <a:latin typeface="Sora Bold" pitchFamily="34" charset="0"/>
                <a:ea typeface="Sora Bold" pitchFamily="34" charset="-122"/>
                <a:cs typeface="Sora Bold" pitchFamily="34" charset="-120"/>
              </a:rPr>
              <a:t>Capabilities:</a:t>
            </a:r>
            <a:r>
              <a:rPr lang="en-US" sz="550" dirty="0">
                <a:solidFill>
                  <a:srgbClr val="3B3535"/>
                </a:solidFill>
                <a:latin typeface="Sora Light" pitchFamily="34" charset="0"/>
                <a:ea typeface="Sora Light" pitchFamily="34" charset="-122"/>
                <a:cs typeface="Sora Light" pitchFamily="34" charset="-120"/>
              </a:rPr>
              <a:t> create alarms from fault events, suppress duplicate active alarms, update existing alarms with fresh evidence, reopen alarms if a cleared condition recurs, and track first-seen, last-seen, and cleared timestamps for auditability.</a:t>
            </a:r>
            <a:endParaRPr lang="en-US" sz="550" dirty="0"/>
          </a:p>
          <a:p>
            <a:pPr marL="0" indent="0" algn="l">
              <a:lnSpc>
                <a:spcPct val="98000"/>
              </a:lnSpc>
              <a:spcAft>
                <a:spcPts val="200"/>
              </a:spcAft>
              <a:buNone/>
            </a:pPr>
            <a:r>
              <a:rPr lang="en-US" sz="550" b="1" dirty="0">
                <a:solidFill>
                  <a:srgbClr val="3B3535"/>
                </a:solidFill>
                <a:latin typeface="Sora Bold" pitchFamily="34" charset="0"/>
                <a:ea typeface="Sora Bold" pitchFamily="34" charset="-122"/>
                <a:cs typeface="Sora Bold" pitchFamily="34" charset="-120"/>
              </a:rPr>
              <a:t>Alarm Identifier:</a:t>
            </a:r>
            <a:r>
              <a:rPr lang="en-US" sz="550" dirty="0">
                <a:solidFill>
                  <a:srgbClr val="3B3535"/>
                </a:solidFill>
                <a:latin typeface="Sora Light" pitchFamily="34" charset="0"/>
                <a:ea typeface="Sora Light" pitchFamily="34" charset="-122"/>
                <a:cs typeface="Sora Light" pitchFamily="34" charset="-120"/>
              </a:rPr>
              <a:t> IF-DOWN-{deviceId}-{interfaceId}</a:t>
            </a:r>
            <a:endParaRPr lang="en-US" sz="550" dirty="0"/>
          </a:p>
          <a:p>
            <a:pPr marL="0" indent="0" algn="l">
              <a:lnSpc>
                <a:spcPct val="98000"/>
              </a:lnSpc>
              <a:buNone/>
            </a:pPr>
            <a:r>
              <a:rPr lang="en-US" sz="550" b="1" dirty="0">
                <a:solidFill>
                  <a:srgbClr val="3B3535"/>
                </a:solidFill>
                <a:latin typeface="Sora Bold" pitchFamily="34" charset="0"/>
                <a:ea typeface="Sora Bold" pitchFamily="34" charset="-122"/>
                <a:cs typeface="Sora Bold" pitchFamily="34" charset="-120"/>
              </a:rPr>
              <a:t>Trigger example:</a:t>
            </a:r>
            <a:r>
              <a:rPr lang="en-US" sz="550" dirty="0">
                <a:solidFill>
                  <a:srgbClr val="3B3535"/>
                </a:solidFill>
                <a:latin typeface="Sora Light" pitchFamily="34" charset="0"/>
                <a:ea typeface="Sora Light" pitchFamily="34" charset="-122"/>
                <a:cs typeface="Sora Light" pitchFamily="34" charset="-120"/>
              </a:rPr>
              <a:t> Interface DOWN → alarm opened; interface remains DOWN on the next poll → existing alarm updated; interface returns UP → alarm cleared and state reset to normal.</a:t>
            </a:r>
            <a:endParaRPr lang="en-US" sz="550" dirty="0"/>
          </a:p>
        </p:txBody>
      </p:sp>
      <p:sp>
        <p:nvSpPr>
          <p:cNvPr id="17" name="Text 15"/>
          <p:cNvSpPr/>
          <p:nvPr/>
        </p:nvSpPr>
        <p:spPr>
          <a:xfrm>
            <a:off x="6192186" y="3172619"/>
            <a:ext cx="5373950" cy="121345"/>
          </a:xfrm>
          <a:prstGeom prst="rect">
            <a:avLst/>
          </a:prstGeom>
          <a:noFill/>
          <a:ln/>
        </p:spPr>
        <p:txBody>
          <a:bodyPr wrap="none" lIns="0" tIns="0" rIns="0" bIns="0" rtlCol="0" anchor="t"/>
          <a:lstStyle/>
          <a:p>
            <a:pPr marL="0" indent="0" algn="l">
              <a:lnSpc>
                <a:spcPct val="104000"/>
              </a:lnSpc>
              <a:buNone/>
            </a:pPr>
            <a:r>
              <a:rPr lang="en-US" sz="750" dirty="0">
                <a:solidFill>
                  <a:srgbClr val="1F1E1E"/>
                </a:solidFill>
                <a:latin typeface="Sora SemiBold" pitchFamily="34" charset="0"/>
                <a:ea typeface="Sora SemiBold" pitchFamily="34" charset="-122"/>
                <a:cs typeface="Sora SemiBold" pitchFamily="34" charset="-120"/>
              </a:rPr>
              <a:t>6. AI-Powered Network Intelligence</a:t>
            </a:r>
            <a:endParaRPr lang="en-US" sz="750" dirty="0"/>
          </a:p>
        </p:txBody>
      </p:sp>
      <p:sp>
        <p:nvSpPr>
          <p:cNvPr id="18" name="Text 16"/>
          <p:cNvSpPr/>
          <p:nvPr/>
        </p:nvSpPr>
        <p:spPr>
          <a:xfrm>
            <a:off x="6192186" y="3328392"/>
            <a:ext cx="5373950" cy="872430"/>
          </a:xfrm>
          <a:prstGeom prst="rect">
            <a:avLst/>
          </a:prstGeom>
          <a:noFill/>
          <a:ln/>
        </p:spPr>
        <p:txBody>
          <a:bodyPr wrap="square" lIns="0" tIns="0" rIns="0" bIns="0" rtlCol="0" anchor="t">
            <a:normAutofit/>
          </a:bodyPr>
          <a:lstStyle/>
          <a:p>
            <a:pPr marL="0" indent="0" algn="l">
              <a:lnSpc>
                <a:spcPct val="98000"/>
              </a:lnSpc>
              <a:spcAft>
                <a:spcPts val="200"/>
              </a:spcAft>
              <a:buNone/>
            </a:pPr>
            <a:r>
              <a:rPr lang="en-US" sz="550" dirty="0">
                <a:solidFill>
                  <a:srgbClr val="3B3535"/>
                </a:solidFill>
                <a:latin typeface="Sora Light" pitchFamily="34" charset="0"/>
                <a:ea typeface="Sora Light" pitchFamily="34" charset="-122"/>
                <a:cs typeface="Sora Light" pitchFamily="34" charset="-120"/>
              </a:rPr>
              <a:t>Analyzes network data and alarms to detect anomalies, perform root-cause analysis, reduce alarm noise, predict potential failures, and explain incidents to the operator.</a:t>
            </a:r>
            <a:endParaRPr lang="en-US" sz="550" dirty="0"/>
          </a:p>
          <a:p>
            <a:pPr marL="0" indent="0" algn="l">
              <a:lnSpc>
                <a:spcPct val="98000"/>
              </a:lnSpc>
              <a:spcAft>
                <a:spcPts val="200"/>
              </a:spcAft>
              <a:buNone/>
            </a:pPr>
            <a:r>
              <a:rPr lang="en-US" sz="550" b="1" dirty="0">
                <a:solidFill>
                  <a:srgbClr val="3B3535"/>
                </a:solidFill>
                <a:latin typeface="Sora Bold" pitchFamily="34" charset="0"/>
                <a:ea typeface="Sora Bold" pitchFamily="34" charset="-122"/>
                <a:cs typeface="Sora Bold" pitchFamily="34" charset="-120"/>
              </a:rPr>
              <a:t>How it works:</a:t>
            </a:r>
            <a:r>
              <a:rPr lang="en-US" sz="550" dirty="0">
                <a:solidFill>
                  <a:srgbClr val="3B3535"/>
                </a:solidFill>
                <a:latin typeface="Sora Light" pitchFamily="34" charset="0"/>
                <a:ea typeface="Sora Light" pitchFamily="34" charset="-122"/>
                <a:cs typeface="Sora Light" pitchFamily="34" charset="-120"/>
              </a:rPr>
              <a:t> The AI layer consumes telemetry, alarm history, topology context, and operational state from the existing backend and database. It correlates device, interface, and alarm patterns to identify abnormal behavior, suppress duplicate or low-value alerts, and rank likely failure causes. It can also learn from historical incidents to surface early warning signals before a fault becomes user-visible.</a:t>
            </a:r>
            <a:endParaRPr lang="en-US" sz="550" dirty="0"/>
          </a:p>
          <a:p>
            <a:pPr marL="0" indent="0" algn="l">
              <a:lnSpc>
                <a:spcPct val="98000"/>
              </a:lnSpc>
              <a:spcAft>
                <a:spcPts val="200"/>
              </a:spcAft>
              <a:buNone/>
            </a:pPr>
            <a:r>
              <a:rPr lang="en-US" sz="550" b="1" dirty="0">
                <a:solidFill>
                  <a:srgbClr val="3B3535"/>
                </a:solidFill>
                <a:latin typeface="Sora Bold" pitchFamily="34" charset="0"/>
                <a:ea typeface="Sora Bold" pitchFamily="34" charset="-122"/>
                <a:cs typeface="Sora Bold" pitchFamily="34" charset="-120"/>
              </a:rPr>
              <a:t>Integration points:</a:t>
            </a:r>
            <a:r>
              <a:rPr lang="en-US" sz="550" dirty="0">
                <a:solidFill>
                  <a:srgbClr val="3B3535"/>
                </a:solidFill>
                <a:latin typeface="Sora Light" pitchFamily="34" charset="0"/>
                <a:ea typeface="Sora Light" pitchFamily="34" charset="-122"/>
                <a:cs typeface="Sora Light" pitchFamily="34" charset="-120"/>
              </a:rPr>
              <a:t> reads parsed telemetry from the processing pipeline, enriches alarms with probable causes, uses the device/interface model for dependency analysis, and writes findings back through the API for dashboard display.</a:t>
            </a:r>
            <a:endParaRPr lang="en-US" sz="550" dirty="0"/>
          </a:p>
          <a:p>
            <a:pPr marL="0" indent="0" algn="l">
              <a:lnSpc>
                <a:spcPct val="98000"/>
              </a:lnSpc>
              <a:buNone/>
            </a:pPr>
            <a:r>
              <a:rPr lang="en-US" sz="550" b="1" dirty="0">
                <a:solidFill>
                  <a:srgbClr val="3B3535"/>
                </a:solidFill>
                <a:latin typeface="Sora Bold" pitchFamily="34" charset="0"/>
                <a:ea typeface="Sora Bold" pitchFamily="34" charset="-122"/>
                <a:cs typeface="Sora Bold" pitchFamily="34" charset="-120"/>
              </a:rPr>
              <a:t>Outputs:</a:t>
            </a:r>
            <a:r>
              <a:rPr lang="en-US" sz="550" dirty="0">
                <a:solidFill>
                  <a:srgbClr val="3B3535"/>
                </a:solidFill>
                <a:latin typeface="Sora Light" pitchFamily="34" charset="0"/>
                <a:ea typeface="Sora Light" pitchFamily="34" charset="-122"/>
                <a:cs typeface="Sora Light" pitchFamily="34" charset="-120"/>
              </a:rPr>
              <a:t> anomaly scores, probable root cause, incident summaries, suggested remediation steps, and predictions of degraded interfaces or devices.</a:t>
            </a:r>
            <a:endParaRPr lang="en-US" sz="550" dirty="0"/>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4270474"/>
            <a:ext cx="5446675" cy="496491"/>
          </a:xfrm>
          <a:prstGeom prst="rect">
            <a:avLst/>
          </a:prstGeom>
        </p:spPr>
      </p:pic>
      <p:sp>
        <p:nvSpPr>
          <p:cNvPr id="20" name="Text 17"/>
          <p:cNvSpPr/>
          <p:nvPr/>
        </p:nvSpPr>
        <p:spPr>
          <a:xfrm>
            <a:off x="3310896" y="4325838"/>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1</a:t>
            </a:r>
            <a:endParaRPr lang="en-US" sz="650" dirty="0"/>
          </a:p>
        </p:txBody>
      </p:sp>
      <p:sp>
        <p:nvSpPr>
          <p:cNvPr id="21" name="Text 18"/>
          <p:cNvSpPr/>
          <p:nvPr/>
        </p:nvSpPr>
        <p:spPr>
          <a:xfrm>
            <a:off x="711976" y="4565551"/>
            <a:ext cx="52865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SIMULATE</a:t>
            </a:r>
            <a:endParaRPr lang="en-US" sz="750" dirty="0"/>
          </a:p>
        </p:txBody>
      </p:sp>
      <p:pic>
        <p:nvPicPr>
          <p:cNvPr id="22"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3012" y="4270474"/>
            <a:ext cx="5446775" cy="496491"/>
          </a:xfrm>
          <a:prstGeom prst="rect">
            <a:avLst/>
          </a:prstGeom>
        </p:spPr>
      </p:pic>
      <p:sp>
        <p:nvSpPr>
          <p:cNvPr id="23" name="Text 19"/>
          <p:cNvSpPr/>
          <p:nvPr/>
        </p:nvSpPr>
        <p:spPr>
          <a:xfrm>
            <a:off x="8792099" y="4325838"/>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2</a:t>
            </a:r>
            <a:endParaRPr lang="en-US" sz="650" dirty="0"/>
          </a:p>
        </p:txBody>
      </p:sp>
      <p:sp>
        <p:nvSpPr>
          <p:cNvPr id="24" name="Text 20"/>
          <p:cNvSpPr/>
          <p:nvPr/>
        </p:nvSpPr>
        <p:spPr>
          <a:xfrm>
            <a:off x="6193079" y="4565551"/>
            <a:ext cx="52866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MONITOR</a:t>
            </a:r>
            <a:endParaRPr lang="en-US" sz="750" dirty="0"/>
          </a:p>
        </p:txBody>
      </p:sp>
      <p:pic>
        <p:nvPicPr>
          <p:cNvPr id="25"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4801394"/>
            <a:ext cx="5446675" cy="496491"/>
          </a:xfrm>
          <a:prstGeom prst="rect">
            <a:avLst/>
          </a:prstGeom>
        </p:spPr>
      </p:pic>
      <p:sp>
        <p:nvSpPr>
          <p:cNvPr id="26" name="Text 21"/>
          <p:cNvSpPr/>
          <p:nvPr/>
        </p:nvSpPr>
        <p:spPr>
          <a:xfrm>
            <a:off x="3310896" y="4856758"/>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3</a:t>
            </a:r>
            <a:endParaRPr lang="en-US" sz="650" dirty="0"/>
          </a:p>
        </p:txBody>
      </p:sp>
      <p:sp>
        <p:nvSpPr>
          <p:cNvPr id="27" name="Text 22"/>
          <p:cNvSpPr/>
          <p:nvPr/>
        </p:nvSpPr>
        <p:spPr>
          <a:xfrm>
            <a:off x="711976" y="5096470"/>
            <a:ext cx="52865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PROCESS</a:t>
            </a:r>
            <a:endParaRPr lang="en-US" sz="750"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3012" y="4801394"/>
            <a:ext cx="5446775" cy="496491"/>
          </a:xfrm>
          <a:prstGeom prst="rect">
            <a:avLst/>
          </a:prstGeom>
        </p:spPr>
      </p:pic>
      <p:sp>
        <p:nvSpPr>
          <p:cNvPr id="29" name="Text 23"/>
          <p:cNvSpPr/>
          <p:nvPr/>
        </p:nvSpPr>
        <p:spPr>
          <a:xfrm>
            <a:off x="8792099" y="4856758"/>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4</a:t>
            </a:r>
            <a:endParaRPr lang="en-US" sz="650" dirty="0"/>
          </a:p>
        </p:txBody>
      </p:sp>
      <p:sp>
        <p:nvSpPr>
          <p:cNvPr id="30" name="Text 24"/>
          <p:cNvSpPr/>
          <p:nvPr/>
        </p:nvSpPr>
        <p:spPr>
          <a:xfrm>
            <a:off x="6193079" y="5096470"/>
            <a:ext cx="52866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DETECT</a:t>
            </a:r>
            <a:endParaRPr lang="en-US" sz="750"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5332313"/>
            <a:ext cx="5446675" cy="496491"/>
          </a:xfrm>
          <a:prstGeom prst="rect">
            <a:avLst/>
          </a:prstGeom>
        </p:spPr>
      </p:pic>
      <p:sp>
        <p:nvSpPr>
          <p:cNvPr id="32" name="Text 25"/>
          <p:cNvSpPr/>
          <p:nvPr/>
        </p:nvSpPr>
        <p:spPr>
          <a:xfrm>
            <a:off x="3310896" y="5387677"/>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5</a:t>
            </a:r>
            <a:endParaRPr lang="en-US" sz="650" dirty="0"/>
          </a:p>
        </p:txBody>
      </p:sp>
      <p:sp>
        <p:nvSpPr>
          <p:cNvPr id="33" name="Text 26"/>
          <p:cNvSpPr/>
          <p:nvPr/>
        </p:nvSpPr>
        <p:spPr>
          <a:xfrm>
            <a:off x="711976" y="5627390"/>
            <a:ext cx="52865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STORE</a:t>
            </a:r>
            <a:endParaRPr lang="en-US" sz="750" dirty="0"/>
          </a:p>
        </p:txBody>
      </p:sp>
      <p:pic>
        <p:nvPicPr>
          <p:cNvPr id="3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13012" y="5332313"/>
            <a:ext cx="5446775" cy="496491"/>
          </a:xfrm>
          <a:prstGeom prst="rect">
            <a:avLst/>
          </a:prstGeom>
        </p:spPr>
      </p:pic>
      <p:sp>
        <p:nvSpPr>
          <p:cNvPr id="35" name="Text 27"/>
          <p:cNvSpPr/>
          <p:nvPr/>
        </p:nvSpPr>
        <p:spPr>
          <a:xfrm>
            <a:off x="8792099" y="5387677"/>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6</a:t>
            </a:r>
            <a:endParaRPr lang="en-US" sz="650" dirty="0"/>
          </a:p>
        </p:txBody>
      </p:sp>
      <p:sp>
        <p:nvSpPr>
          <p:cNvPr id="36" name="Text 28"/>
          <p:cNvSpPr/>
          <p:nvPr/>
        </p:nvSpPr>
        <p:spPr>
          <a:xfrm>
            <a:off x="6193079" y="5627390"/>
            <a:ext cx="5286640"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VISUALIZE</a:t>
            </a:r>
            <a:endParaRPr lang="en-US" sz="750" dirty="0"/>
          </a:p>
        </p:txBody>
      </p:sp>
      <p:pic>
        <p:nvPicPr>
          <p:cNvPr id="37"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863233"/>
            <a:ext cx="10927878" cy="496491"/>
          </a:xfrm>
          <a:prstGeom prst="rect">
            <a:avLst/>
          </a:prstGeom>
        </p:spPr>
      </p:pic>
      <p:sp>
        <p:nvSpPr>
          <p:cNvPr id="38" name="Text 29"/>
          <p:cNvSpPr/>
          <p:nvPr/>
        </p:nvSpPr>
        <p:spPr>
          <a:xfrm>
            <a:off x="6051547" y="5918597"/>
            <a:ext cx="88501" cy="110629"/>
          </a:xfrm>
          <a:prstGeom prst="rect">
            <a:avLst/>
          </a:prstGeom>
          <a:noFill/>
          <a:ln/>
        </p:spPr>
        <p:txBody>
          <a:bodyPr wrap="none" lIns="0" tIns="0" rIns="0" bIns="0" rtlCol="0" anchor="ctr"/>
          <a:lstStyle/>
          <a:p>
            <a:pPr marL="0" indent="0" algn="ctr">
              <a:lnSpc>
                <a:spcPct val="100000"/>
              </a:lnSpc>
              <a:buNone/>
            </a:pPr>
            <a:r>
              <a:rPr lang="en-US" sz="650" dirty="0">
                <a:solidFill>
                  <a:srgbClr val="FFFFFF"/>
                </a:solidFill>
                <a:latin typeface="Sora SemiBold" pitchFamily="34" charset="0"/>
                <a:ea typeface="Sora SemiBold" pitchFamily="34" charset="-122"/>
                <a:cs typeface="Sora SemiBold" pitchFamily="34" charset="-120"/>
              </a:rPr>
              <a:t>7</a:t>
            </a:r>
            <a:endParaRPr lang="en-US" sz="650" dirty="0"/>
          </a:p>
        </p:txBody>
      </p:sp>
      <p:sp>
        <p:nvSpPr>
          <p:cNvPr id="39" name="Text 30"/>
          <p:cNvSpPr/>
          <p:nvPr/>
        </p:nvSpPr>
        <p:spPr>
          <a:xfrm>
            <a:off x="711976" y="6158309"/>
            <a:ext cx="10767743" cy="121345"/>
          </a:xfrm>
          <a:prstGeom prst="rect">
            <a:avLst/>
          </a:prstGeom>
          <a:noFill/>
          <a:ln/>
        </p:spPr>
        <p:txBody>
          <a:bodyPr wrap="none" lIns="0" tIns="0" rIns="0" bIns="0" rtlCol="0" anchor="t"/>
          <a:lstStyle/>
          <a:p>
            <a:pPr marL="0" indent="0" algn="l">
              <a:lnSpc>
                <a:spcPct val="104000"/>
              </a:lnSpc>
              <a:buNone/>
            </a:pPr>
            <a:r>
              <a:rPr lang="en-US" sz="750" dirty="0">
                <a:solidFill>
                  <a:srgbClr val="3B3535"/>
                </a:solidFill>
                <a:latin typeface="Sora SemiBold" pitchFamily="34" charset="0"/>
                <a:ea typeface="Sora SemiBold" pitchFamily="34" charset="-122"/>
                <a:cs typeface="Sora SemiBold" pitchFamily="34" charset="-120"/>
              </a:rPr>
              <a:t>INTELLIGENT</a:t>
            </a:r>
            <a:endParaRPr lang="en-US" sz="750" dirty="0"/>
          </a:p>
        </p:txBody>
      </p:sp>
      <p:pic>
        <p:nvPicPr>
          <p:cNvPr id="41" name="Picture 40">
            <a:extLst>
              <a:ext uri="{FF2B5EF4-FFF2-40B4-BE49-F238E27FC236}">
                <a16:creationId xmlns:a16="http://schemas.microsoft.com/office/drawing/2014/main" id="{488C4AAF-56A1-2684-B01A-31993D91ECEF}"/>
              </a:ext>
            </a:extLst>
          </p:cNvPr>
          <p:cNvPicPr>
            <a:picLocks noChangeAspect="1"/>
          </p:cNvPicPr>
          <p:nvPr/>
        </p:nvPicPr>
        <p:blipFill>
          <a:blip r:embed="rId5"/>
          <a:stretch>
            <a:fillRect/>
          </a:stretch>
        </p:blipFill>
        <p:spPr>
          <a:xfrm>
            <a:off x="10304106" y="6488807"/>
            <a:ext cx="1844200" cy="3125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31908" y="498971"/>
            <a:ext cx="1740253" cy="240010"/>
          </a:xfrm>
          <a:prstGeom prst="roundRect">
            <a:avLst>
              <a:gd name="adj" fmla="val 22116"/>
            </a:avLst>
          </a:prstGeom>
          <a:solidFill>
            <a:srgbClr val="F9D2D6"/>
          </a:solidFill>
          <a:ln/>
        </p:spPr>
      </p:sp>
      <p:sp>
        <p:nvSpPr>
          <p:cNvPr id="3" name="Text 1"/>
          <p:cNvSpPr/>
          <p:nvPr/>
        </p:nvSpPr>
        <p:spPr>
          <a:xfrm>
            <a:off x="726660" y="546298"/>
            <a:ext cx="2160335" cy="145355"/>
          </a:xfrm>
          <a:prstGeom prst="rect">
            <a:avLst/>
          </a:prstGeom>
          <a:noFill/>
          <a:ln/>
        </p:spPr>
        <p:txBody>
          <a:bodyPr wrap="none" lIns="0" tIns="0" rIns="0" bIns="0" rtlCol="0" anchor="t"/>
          <a:lstStyle/>
          <a:p>
            <a:pPr marL="0" indent="0" algn="l">
              <a:lnSpc>
                <a:spcPct val="96000"/>
              </a:lnSpc>
              <a:buNone/>
            </a:pPr>
            <a:r>
              <a:rPr lang="en-US" sz="950" dirty="0">
                <a:solidFill>
                  <a:srgbClr val="3B3535"/>
                </a:solidFill>
                <a:latin typeface="Sora Light" pitchFamily="34" charset="0"/>
                <a:ea typeface="Sora Light" pitchFamily="34" charset="-122"/>
                <a:cs typeface="Sora Light" pitchFamily="34" charset="-120"/>
              </a:rPr>
              <a:t>SYSTEM ARCHITECTURE</a:t>
            </a:r>
            <a:endParaRPr lang="en-US" sz="950" dirty="0"/>
          </a:p>
        </p:txBody>
      </p:sp>
      <p:sp>
        <p:nvSpPr>
          <p:cNvPr id="4" name="Text 2"/>
          <p:cNvSpPr/>
          <p:nvPr/>
        </p:nvSpPr>
        <p:spPr>
          <a:xfrm>
            <a:off x="631908" y="802084"/>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WIPRO NMS — System Architecture</a:t>
            </a:r>
            <a:endParaRPr lang="en-US" sz="3250" dirty="0"/>
          </a:p>
        </p:txBody>
      </p:sp>
      <p:sp>
        <p:nvSpPr>
          <p:cNvPr id="5" name="Shape 3"/>
          <p:cNvSpPr/>
          <p:nvPr/>
        </p:nvSpPr>
        <p:spPr>
          <a:xfrm>
            <a:off x="631908" y="1558627"/>
            <a:ext cx="10927878" cy="884535"/>
          </a:xfrm>
          <a:prstGeom prst="roundRect">
            <a:avLst>
              <a:gd name="adj" fmla="val 7501"/>
            </a:avLst>
          </a:prstGeom>
          <a:solidFill>
            <a:srgbClr val="F9D2D6"/>
          </a:solidFill>
          <a:ln/>
        </p:spPr>
      </p:sp>
      <p:pic>
        <p:nvPicPr>
          <p:cNvPr id="6" name="Image 0" descr="preencoded.png"/>
          <p:cNvPicPr>
            <a:picLocks noChangeAspect="1"/>
          </p:cNvPicPr>
          <p:nvPr/>
        </p:nvPicPr>
        <p:blipFill>
          <a:blip r:embed="rId3"/>
          <a:stretch>
            <a:fillRect/>
          </a:stretch>
        </p:blipFill>
        <p:spPr>
          <a:xfrm>
            <a:off x="789861" y="1842938"/>
            <a:ext cx="197440" cy="157956"/>
          </a:xfrm>
          <a:prstGeom prst="rect">
            <a:avLst/>
          </a:prstGeom>
        </p:spPr>
      </p:pic>
      <p:sp>
        <p:nvSpPr>
          <p:cNvPr id="7" name="Text 4"/>
          <p:cNvSpPr/>
          <p:nvPr/>
        </p:nvSpPr>
        <p:spPr>
          <a:xfrm>
            <a:off x="1145253" y="1756073"/>
            <a:ext cx="10256581" cy="505420"/>
          </a:xfrm>
          <a:prstGeom prst="rect">
            <a:avLst/>
          </a:prstGeom>
          <a:noFill/>
          <a:ln/>
        </p:spPr>
        <p:txBody>
          <a:bodyPr wrap="square" lIns="0" tIns="0" rIns="0" bIns="0" rtlCol="0" anchor="t">
            <a:normAutofit/>
          </a:bodyPr>
          <a:lstStyle/>
          <a:p>
            <a:pPr marL="0" indent="0" algn="l">
              <a:lnSpc>
                <a:spcPct val="133000"/>
              </a:lnSpc>
              <a:buNone/>
            </a:pPr>
            <a:r>
              <a:rPr lang="en-US" sz="1200" b="1" dirty="0">
                <a:solidFill>
                  <a:srgbClr val="000000"/>
                </a:solidFill>
                <a:latin typeface="Sora Bold" pitchFamily="34" charset="0"/>
                <a:ea typeface="Sora Bold" pitchFamily="34" charset="-122"/>
              </a:rPr>
              <a:t>SYSTEM ARCHITECURE</a:t>
            </a:r>
            <a:endParaRPr lang="en-US" sz="1200" dirty="0"/>
          </a:p>
          <a:p>
            <a:pPr>
              <a:lnSpc>
                <a:spcPct val="133000"/>
              </a:lnSpc>
            </a:pPr>
            <a:r>
              <a:rPr lang="en-US" sz="1200" dirty="0">
                <a:latin typeface="Sora Light" pitchFamily="34" charset="0"/>
                <a:ea typeface="Sora Light" pitchFamily="34" charset="-122"/>
                <a:cs typeface="Sora Light" pitchFamily="34" charset="-120"/>
              </a:rPr>
              <a:t>GNS3 / </a:t>
            </a:r>
            <a:r>
              <a:rPr lang="en-US" sz="1200" dirty="0" err="1">
                <a:latin typeface="Sora Light" pitchFamily="34" charset="0"/>
                <a:ea typeface="Sora Light" pitchFamily="34" charset="-122"/>
                <a:cs typeface="Sora Light" pitchFamily="34" charset="-120"/>
              </a:rPr>
              <a:t>FRRouting</a:t>
            </a:r>
            <a:r>
              <a:rPr lang="en-US" sz="1200" dirty="0">
                <a:latin typeface="Sora Light" pitchFamily="34" charset="0"/>
                <a:ea typeface="Sora Light" pitchFamily="34" charset="-122"/>
                <a:cs typeface="Sora Light" pitchFamily="34" charset="-120"/>
              </a:rPr>
              <a:t> → SNMP / Telemetry → Spring Boot Backend → PostgreSQL Database → REST API → React Dashboard</a:t>
            </a:r>
            <a:endParaRPr lang="en-US" sz="1200" dirty="0"/>
          </a:p>
        </p:txBody>
      </p:sp>
      <p:sp>
        <p:nvSpPr>
          <p:cNvPr id="8" name="Shape 5"/>
          <p:cNvSpPr/>
          <p:nvPr/>
        </p:nvSpPr>
        <p:spPr>
          <a:xfrm>
            <a:off x="518207" y="2620863"/>
            <a:ext cx="5498665" cy="3738066"/>
          </a:xfrm>
          <a:prstGeom prst="roundRect">
            <a:avLst>
              <a:gd name="adj" fmla="val 3043"/>
            </a:avLst>
          </a:prstGeom>
          <a:solidFill>
            <a:srgbClr val="DA1B2E"/>
          </a:solidFill>
          <a:ln/>
        </p:spPr>
      </p:sp>
      <p:sp>
        <p:nvSpPr>
          <p:cNvPr id="9" name="Text 6"/>
          <p:cNvSpPr/>
          <p:nvPr/>
        </p:nvSpPr>
        <p:spPr>
          <a:xfrm>
            <a:off x="676159" y="2778820"/>
            <a:ext cx="5182760" cy="259755"/>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10" name="Text 7"/>
          <p:cNvSpPr/>
          <p:nvPr/>
        </p:nvSpPr>
        <p:spPr>
          <a:xfrm>
            <a:off x="676159" y="3196530"/>
            <a:ext cx="5182760" cy="505420"/>
          </a:xfrm>
          <a:prstGeom prst="rect">
            <a:avLst/>
          </a:prstGeom>
          <a:noFill/>
          <a:ln/>
        </p:spPr>
        <p:txBody>
          <a:bodyPr wrap="square" lIns="0" tIns="0" rIns="0" bIns="0" rtlCol="0" anchor="t">
            <a:normAutofit/>
          </a:bodyPr>
          <a:lstStyle/>
          <a:p>
            <a:pPr marL="0" indent="0" algn="l">
              <a:lnSpc>
                <a:spcPct val="133000"/>
              </a:lnSpc>
              <a:buNone/>
            </a:pPr>
            <a:endParaRPr lang="en-US" sz="1200" dirty="0"/>
          </a:p>
        </p:txBody>
      </p:sp>
      <p:sp>
        <p:nvSpPr>
          <p:cNvPr id="11" name="Text 8"/>
          <p:cNvSpPr/>
          <p:nvPr/>
        </p:nvSpPr>
        <p:spPr>
          <a:xfrm>
            <a:off x="676159" y="3859907"/>
            <a:ext cx="5182760" cy="259755"/>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12" name="Text 9"/>
          <p:cNvSpPr/>
          <p:nvPr/>
        </p:nvSpPr>
        <p:spPr>
          <a:xfrm>
            <a:off x="676159" y="4277618"/>
            <a:ext cx="5182760" cy="1263551"/>
          </a:xfrm>
          <a:prstGeom prst="rect">
            <a:avLst/>
          </a:prstGeom>
          <a:noFill/>
          <a:ln/>
        </p:spPr>
        <p:txBody>
          <a:bodyPr wrap="square" lIns="0" tIns="0" rIns="0" bIns="0" rtlCol="0" anchor="t">
            <a:normAutofit/>
          </a:bodyPr>
          <a:lstStyle/>
          <a:p>
            <a:pPr marL="0" indent="0" algn="l">
              <a:lnSpc>
                <a:spcPct val="133000"/>
              </a:lnSpc>
              <a:buNone/>
            </a:pPr>
            <a:endParaRPr lang="en-US" sz="1200" dirty="0"/>
          </a:p>
        </p:txBody>
      </p:sp>
      <p:sp>
        <p:nvSpPr>
          <p:cNvPr id="13" name="Text 10"/>
          <p:cNvSpPr/>
          <p:nvPr/>
        </p:nvSpPr>
        <p:spPr>
          <a:xfrm>
            <a:off x="6294875" y="2778820"/>
            <a:ext cx="5271261" cy="259755"/>
          </a:xfrm>
          <a:prstGeom prst="rect">
            <a:avLst/>
          </a:prstGeom>
          <a:noFill/>
          <a:ln/>
        </p:spPr>
        <p:txBody>
          <a:bodyPr wrap="none" lIns="0" tIns="0" rIns="0" bIns="0" rtlCol="0" anchor="t"/>
          <a:lstStyle/>
          <a:p>
            <a:pPr marL="0" indent="0" algn="l">
              <a:lnSpc>
                <a:spcPct val="104000"/>
              </a:lnSpc>
              <a:buNone/>
            </a:pPr>
            <a:r>
              <a:rPr lang="en-US" sz="1600" dirty="0">
                <a:solidFill>
                  <a:srgbClr val="1F1E1E"/>
                </a:solidFill>
                <a:latin typeface="Sora SemiBold" pitchFamily="34" charset="0"/>
                <a:ea typeface="Sora SemiBold" pitchFamily="34" charset="-122"/>
                <a:cs typeface="Sora SemiBold" pitchFamily="34" charset="-120"/>
              </a:rPr>
              <a:t>Technology Summary</a:t>
            </a:r>
            <a:endParaRPr lang="en-US" sz="1600" dirty="0"/>
          </a:p>
        </p:txBody>
      </p:sp>
      <p:sp>
        <p:nvSpPr>
          <p:cNvPr id="14" name="Shape 11"/>
          <p:cNvSpPr/>
          <p:nvPr/>
        </p:nvSpPr>
        <p:spPr>
          <a:xfrm>
            <a:off x="6223768" y="3216275"/>
            <a:ext cx="2556605" cy="1529854"/>
          </a:xfrm>
          <a:prstGeom prst="roundRect">
            <a:avLst>
              <a:gd name="adj" fmla="val 4337"/>
            </a:avLst>
          </a:prstGeom>
          <a:solidFill>
            <a:srgbClr val="FFFFFF"/>
          </a:solidFill>
          <a:ln w="19050">
            <a:solidFill>
              <a:srgbClr val="DFB8BC"/>
            </a:solidFill>
            <a:prstDash val="solid"/>
          </a:ln>
        </p:spPr>
        <p:txBody>
          <a:bodyPr/>
          <a:lstStyle/>
          <a:p>
            <a:endParaRPr lang="en-IN" dirty="0"/>
          </a:p>
        </p:txBody>
      </p:sp>
      <p:sp>
        <p:nvSpPr>
          <p:cNvPr id="15" name="Text 12"/>
          <p:cNvSpPr/>
          <p:nvPr/>
        </p:nvSpPr>
        <p:spPr>
          <a:xfrm>
            <a:off x="6471877" y="3393281"/>
            <a:ext cx="220260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Network</a:t>
            </a:r>
            <a:endParaRPr lang="en-US" sz="1600" dirty="0"/>
          </a:p>
        </p:txBody>
      </p:sp>
      <p:sp>
        <p:nvSpPr>
          <p:cNvPr id="16" name="Text 13"/>
          <p:cNvSpPr/>
          <p:nvPr/>
        </p:nvSpPr>
        <p:spPr>
          <a:xfrm>
            <a:off x="6471877" y="3810992"/>
            <a:ext cx="2202601" cy="252710"/>
          </a:xfrm>
          <a:prstGeom prst="rect">
            <a:avLst/>
          </a:prstGeom>
          <a:noFill/>
          <a:ln/>
        </p:spPr>
        <p:txBody>
          <a:bodyPr wrap="none" lIns="0" tIns="0" rIns="0" bIns="0" rtlCol="0" anchor="t"/>
          <a:lstStyle/>
          <a:p>
            <a:pPr>
              <a:lnSpc>
                <a:spcPct val="133000"/>
              </a:lnSpc>
            </a:pPr>
            <a:r>
              <a:rPr lang="en-US" sz="1200" dirty="0">
                <a:solidFill>
                  <a:srgbClr val="3B3535"/>
                </a:solidFill>
                <a:latin typeface="Sora Light" pitchFamily="34" charset="0"/>
                <a:ea typeface="Sora Light" pitchFamily="34" charset="-122"/>
                <a:cs typeface="Sora Light" pitchFamily="34" charset="-120"/>
              </a:rPr>
              <a:t>GNS3 • </a:t>
            </a:r>
            <a:r>
              <a:rPr lang="en-US" sz="1200" dirty="0" err="1">
                <a:solidFill>
                  <a:srgbClr val="3B3535"/>
                </a:solidFill>
                <a:latin typeface="Sora Light" pitchFamily="34" charset="0"/>
                <a:ea typeface="Sora Light" pitchFamily="34" charset="-122"/>
                <a:cs typeface="Sora Light" pitchFamily="34" charset="-120"/>
              </a:rPr>
              <a:t>FRRouting</a:t>
            </a:r>
            <a:r>
              <a:rPr lang="en-US" sz="1200" dirty="0">
                <a:solidFill>
                  <a:srgbClr val="3B3535"/>
                </a:solidFill>
                <a:latin typeface="Sora Light" pitchFamily="34" charset="0"/>
                <a:ea typeface="Sora Light" pitchFamily="34" charset="-122"/>
                <a:cs typeface="Sora Light" pitchFamily="34" charset="-120"/>
              </a:rPr>
              <a:t> • SNMP</a:t>
            </a:r>
          </a:p>
          <a:p>
            <a:pPr>
              <a:lnSpc>
                <a:spcPct val="133000"/>
              </a:lnSpc>
            </a:pPr>
            <a:r>
              <a:rPr lang="en-US" sz="1200" dirty="0">
                <a:solidFill>
                  <a:srgbClr val="3B3535"/>
                </a:solidFill>
                <a:latin typeface="Sora Light" pitchFamily="34" charset="0"/>
                <a:ea typeface="Sora Light" pitchFamily="34" charset="-122"/>
                <a:cs typeface="Sora Light" pitchFamily="34" charset="-120"/>
              </a:rPr>
              <a:t>• AI Provider Layer • API</a:t>
            </a:r>
            <a:endParaRPr lang="en-US" sz="1200" dirty="0"/>
          </a:p>
        </p:txBody>
      </p:sp>
      <p:sp>
        <p:nvSpPr>
          <p:cNvPr id="17" name="Shape 14"/>
          <p:cNvSpPr/>
          <p:nvPr/>
        </p:nvSpPr>
        <p:spPr>
          <a:xfrm>
            <a:off x="9009432" y="3216275"/>
            <a:ext cx="2556704" cy="1529854"/>
          </a:xfrm>
          <a:prstGeom prst="roundRect">
            <a:avLst>
              <a:gd name="adj" fmla="val 4337"/>
            </a:avLst>
          </a:prstGeom>
          <a:solidFill>
            <a:srgbClr val="FFFFFF"/>
          </a:solidFill>
          <a:ln w="19050">
            <a:solidFill>
              <a:srgbClr val="DFB8BC"/>
            </a:solidFill>
            <a:prstDash val="solid"/>
          </a:ln>
        </p:spPr>
      </p:sp>
      <p:sp>
        <p:nvSpPr>
          <p:cNvPr id="18" name="Text 15"/>
          <p:cNvSpPr/>
          <p:nvPr/>
        </p:nvSpPr>
        <p:spPr>
          <a:xfrm>
            <a:off x="9186434" y="3393281"/>
            <a:ext cx="2202700"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Backend</a:t>
            </a:r>
            <a:endParaRPr lang="en-US" sz="1600" dirty="0"/>
          </a:p>
        </p:txBody>
      </p:sp>
      <p:sp>
        <p:nvSpPr>
          <p:cNvPr id="19" name="Text 16"/>
          <p:cNvSpPr/>
          <p:nvPr/>
        </p:nvSpPr>
        <p:spPr>
          <a:xfrm>
            <a:off x="9186434" y="3810992"/>
            <a:ext cx="2202700"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Java 21 • Spring Boot 4.0.8 • Spring Data JPA • Hibernate</a:t>
            </a:r>
            <a:endParaRPr lang="en-US" sz="1200" dirty="0"/>
          </a:p>
        </p:txBody>
      </p:sp>
      <p:sp>
        <p:nvSpPr>
          <p:cNvPr id="20" name="Shape 17"/>
          <p:cNvSpPr/>
          <p:nvPr/>
        </p:nvSpPr>
        <p:spPr>
          <a:xfrm>
            <a:off x="6294875" y="4904085"/>
            <a:ext cx="2556605" cy="1277144"/>
          </a:xfrm>
          <a:prstGeom prst="roundRect">
            <a:avLst>
              <a:gd name="adj" fmla="val 5195"/>
            </a:avLst>
          </a:prstGeom>
          <a:solidFill>
            <a:srgbClr val="FFFFFF"/>
          </a:solidFill>
          <a:ln w="19050">
            <a:solidFill>
              <a:srgbClr val="DFB8BC"/>
            </a:solidFill>
            <a:prstDash val="solid"/>
          </a:ln>
        </p:spPr>
      </p:sp>
      <p:sp>
        <p:nvSpPr>
          <p:cNvPr id="21" name="Text 18"/>
          <p:cNvSpPr/>
          <p:nvPr/>
        </p:nvSpPr>
        <p:spPr>
          <a:xfrm>
            <a:off x="6471877" y="5081091"/>
            <a:ext cx="2202601"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Database</a:t>
            </a:r>
            <a:endParaRPr lang="en-US" sz="1600" dirty="0"/>
          </a:p>
        </p:txBody>
      </p:sp>
      <p:sp>
        <p:nvSpPr>
          <p:cNvPr id="22" name="Text 19"/>
          <p:cNvSpPr/>
          <p:nvPr/>
        </p:nvSpPr>
        <p:spPr>
          <a:xfrm>
            <a:off x="6471877" y="5498802"/>
            <a:ext cx="2202601" cy="50542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PostgreSQL 17 • Supabase • HikariCP</a:t>
            </a:r>
            <a:endParaRPr lang="en-US" sz="1200" dirty="0"/>
          </a:p>
        </p:txBody>
      </p:sp>
      <p:sp>
        <p:nvSpPr>
          <p:cNvPr id="23" name="Shape 20"/>
          <p:cNvSpPr/>
          <p:nvPr/>
        </p:nvSpPr>
        <p:spPr>
          <a:xfrm>
            <a:off x="9009432" y="4904085"/>
            <a:ext cx="2556704" cy="1277144"/>
          </a:xfrm>
          <a:prstGeom prst="roundRect">
            <a:avLst>
              <a:gd name="adj" fmla="val 5195"/>
            </a:avLst>
          </a:prstGeom>
          <a:solidFill>
            <a:srgbClr val="FFFFFF"/>
          </a:solidFill>
          <a:ln w="19050">
            <a:solidFill>
              <a:srgbClr val="DFB8BC"/>
            </a:solidFill>
            <a:prstDash val="solid"/>
          </a:ln>
        </p:spPr>
      </p:sp>
      <p:sp>
        <p:nvSpPr>
          <p:cNvPr id="24" name="Text 21"/>
          <p:cNvSpPr/>
          <p:nvPr/>
        </p:nvSpPr>
        <p:spPr>
          <a:xfrm>
            <a:off x="9186434" y="5081091"/>
            <a:ext cx="2202700"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Frontend</a:t>
            </a:r>
            <a:endParaRPr lang="en-US" sz="1600" dirty="0"/>
          </a:p>
        </p:txBody>
      </p:sp>
      <p:sp>
        <p:nvSpPr>
          <p:cNvPr id="25" name="Text 22"/>
          <p:cNvSpPr/>
          <p:nvPr/>
        </p:nvSpPr>
        <p:spPr>
          <a:xfrm>
            <a:off x="9186434" y="5498802"/>
            <a:ext cx="2202700" cy="252710"/>
          </a:xfrm>
          <a:prstGeom prst="rect">
            <a:avLst/>
          </a:prstGeom>
          <a:noFill/>
          <a:ln/>
        </p:spPr>
        <p:txBody>
          <a:bodyPr wrap="none" lIns="0" tIns="0" rIns="0" bIns="0" rtlCol="0" anchor="t"/>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React • Tailwind CSS</a:t>
            </a:r>
            <a:endParaRPr lang="en-US" sz="1200" dirty="0"/>
          </a:p>
        </p:txBody>
      </p:sp>
      <p:pic>
        <p:nvPicPr>
          <p:cNvPr id="27" name="Picture 26">
            <a:extLst>
              <a:ext uri="{FF2B5EF4-FFF2-40B4-BE49-F238E27FC236}">
                <a16:creationId xmlns:a16="http://schemas.microsoft.com/office/drawing/2014/main" id="{50B33A90-5C45-C515-38C1-FCAE70F0B6FC}"/>
              </a:ext>
            </a:extLst>
          </p:cNvPr>
          <p:cNvPicPr>
            <a:picLocks noChangeAspect="1"/>
          </p:cNvPicPr>
          <p:nvPr/>
        </p:nvPicPr>
        <p:blipFill>
          <a:blip r:embed="rId4"/>
          <a:stretch>
            <a:fillRect/>
          </a:stretch>
        </p:blipFill>
        <p:spPr>
          <a:xfrm>
            <a:off x="10458923" y="6556335"/>
            <a:ext cx="1733078" cy="259755"/>
          </a:xfrm>
          <a:prstGeom prst="rect">
            <a:avLst/>
          </a:prstGeom>
        </p:spPr>
      </p:pic>
      <p:pic>
        <p:nvPicPr>
          <p:cNvPr id="29" name="Picture 28">
            <a:extLst>
              <a:ext uri="{FF2B5EF4-FFF2-40B4-BE49-F238E27FC236}">
                <a16:creationId xmlns:a16="http://schemas.microsoft.com/office/drawing/2014/main" id="{9060A2A9-1DB0-F48B-D2DB-93A0B44F634E}"/>
              </a:ext>
            </a:extLst>
          </p:cNvPr>
          <p:cNvPicPr>
            <a:picLocks noChangeAspect="1"/>
          </p:cNvPicPr>
          <p:nvPr/>
        </p:nvPicPr>
        <p:blipFill>
          <a:blip r:embed="rId5"/>
          <a:srcRect/>
          <a:stretch/>
        </p:blipFill>
        <p:spPr>
          <a:xfrm>
            <a:off x="638484" y="2737192"/>
            <a:ext cx="5258110" cy="350540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31908" y="640953"/>
            <a:ext cx="1007442" cy="179983"/>
          </a:xfrm>
          <a:prstGeom prst="roundRect">
            <a:avLst>
              <a:gd name="adj" fmla="val 22119"/>
            </a:avLst>
          </a:prstGeom>
          <a:solidFill>
            <a:srgbClr val="F9D2D6"/>
          </a:solidFill>
          <a:ln/>
        </p:spPr>
      </p:sp>
      <p:sp>
        <p:nvSpPr>
          <p:cNvPr id="3" name="Text 1"/>
          <p:cNvSpPr/>
          <p:nvPr/>
        </p:nvSpPr>
        <p:spPr>
          <a:xfrm>
            <a:off x="702947" y="676473"/>
            <a:ext cx="1474949" cy="108942"/>
          </a:xfrm>
          <a:prstGeom prst="rect">
            <a:avLst/>
          </a:prstGeom>
          <a:noFill/>
          <a:ln/>
        </p:spPr>
        <p:txBody>
          <a:bodyPr wrap="none" lIns="0" tIns="0" rIns="0" bIns="0" rtlCol="0" anchor="t"/>
          <a:lstStyle/>
          <a:p>
            <a:pPr marL="0" indent="0" algn="l">
              <a:lnSpc>
                <a:spcPct val="96000"/>
              </a:lnSpc>
              <a:buNone/>
            </a:pPr>
            <a:r>
              <a:rPr lang="en-US" sz="700" dirty="0">
                <a:solidFill>
                  <a:srgbClr val="3B3535"/>
                </a:solidFill>
                <a:latin typeface="Sora Light" pitchFamily="34" charset="0"/>
                <a:ea typeface="Sora Light" pitchFamily="34" charset="-122"/>
                <a:cs typeface="Sora Light" pitchFamily="34" charset="-120"/>
              </a:rPr>
              <a:t>EXISTING SYSTEM</a:t>
            </a:r>
            <a:endParaRPr lang="en-US" sz="700" dirty="0"/>
          </a:p>
        </p:txBody>
      </p:sp>
      <p:sp>
        <p:nvSpPr>
          <p:cNvPr id="4" name="Text 2"/>
          <p:cNvSpPr/>
          <p:nvPr/>
        </p:nvSpPr>
        <p:spPr>
          <a:xfrm>
            <a:off x="631908" y="856456"/>
            <a:ext cx="10927878" cy="389731"/>
          </a:xfrm>
          <a:prstGeom prst="rect">
            <a:avLst/>
          </a:prstGeom>
          <a:noFill/>
          <a:ln/>
        </p:spPr>
        <p:txBody>
          <a:bodyPr wrap="none" lIns="0" tIns="0" rIns="0" bIns="0" rtlCol="0" anchor="t"/>
          <a:lstStyle/>
          <a:p>
            <a:pPr marL="0" indent="0" algn="l">
              <a:lnSpc>
                <a:spcPct val="104000"/>
              </a:lnSpc>
              <a:buNone/>
            </a:pPr>
            <a:r>
              <a:rPr lang="en-US" sz="2450" dirty="0">
                <a:solidFill>
                  <a:srgbClr val="1F1E1E"/>
                </a:solidFill>
                <a:latin typeface="Sora SemiBold" pitchFamily="34" charset="0"/>
                <a:ea typeface="Sora SemiBold" pitchFamily="34" charset="-122"/>
                <a:cs typeface="Sora SemiBold" pitchFamily="34" charset="-120"/>
              </a:rPr>
              <a:t>Existing System and Its Limitations</a:t>
            </a:r>
            <a:endParaRPr lang="en-US" sz="2450" dirty="0"/>
          </a:p>
        </p:txBody>
      </p:sp>
      <p:sp>
        <p:nvSpPr>
          <p:cNvPr id="5" name="Text 3"/>
          <p:cNvSpPr/>
          <p:nvPr/>
        </p:nvSpPr>
        <p:spPr>
          <a:xfrm>
            <a:off x="631908" y="1379438"/>
            <a:ext cx="10927878"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In a conventional or distributed monitoring environment, administrators may need to inspect individual network devices and interfaces to understand their operational state. Information can be distributed across different devices or monitoring sources, making centralized visibility difficult.</a:t>
            </a:r>
            <a:endParaRPr lang="en-US" sz="900" dirty="0"/>
          </a:p>
        </p:txBody>
      </p:sp>
      <p:sp>
        <p:nvSpPr>
          <p:cNvPr id="6" name="Text 4"/>
          <p:cNvSpPr/>
          <p:nvPr/>
        </p:nvSpPr>
        <p:spPr>
          <a:xfrm>
            <a:off x="631908" y="1899741"/>
            <a:ext cx="5319480" cy="194766"/>
          </a:xfrm>
          <a:prstGeom prst="rect">
            <a:avLst/>
          </a:prstGeom>
          <a:noFill/>
          <a:ln/>
        </p:spPr>
        <p:txBody>
          <a:bodyPr wrap="none" lIns="0" tIns="0" rIns="0" bIns="0" rtlCol="0" anchor="t"/>
          <a:lstStyle/>
          <a:p>
            <a:pPr marL="0" indent="0" algn="l">
              <a:lnSpc>
                <a:spcPct val="104000"/>
              </a:lnSpc>
              <a:buNone/>
            </a:pPr>
            <a:r>
              <a:rPr lang="en-US" sz="1200" dirty="0">
                <a:solidFill>
                  <a:srgbClr val="1F1E1E"/>
                </a:solidFill>
                <a:latin typeface="Sora SemiBold" pitchFamily="34" charset="0"/>
                <a:ea typeface="Sora SemiBold" pitchFamily="34" charset="-122"/>
                <a:cs typeface="Sora SemiBold" pitchFamily="34" charset="-120"/>
              </a:rPr>
              <a:t>Existing Approach</a:t>
            </a:r>
            <a:endParaRPr lang="en-US" sz="1200" dirty="0"/>
          </a:p>
        </p:txBody>
      </p:sp>
      <p:sp>
        <p:nvSpPr>
          <p:cNvPr id="7" name="Text 5"/>
          <p:cNvSpPr/>
          <p:nvPr/>
        </p:nvSpPr>
        <p:spPr>
          <a:xfrm>
            <a:off x="631908" y="2183309"/>
            <a:ext cx="5319480"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Network Devices → Individual Monitoring → Manual Status Checking → Manual Fault Identification → Separate Information</a:t>
            </a:r>
            <a:endParaRPr lang="en-US" sz="9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2614811"/>
            <a:ext cx="2615341" cy="1238052"/>
          </a:xfrm>
          <a:prstGeom prst="rect">
            <a:avLst/>
          </a:prstGeom>
        </p:spPr>
      </p:pic>
      <p:sp>
        <p:nvSpPr>
          <p:cNvPr id="9" name="Text 6"/>
          <p:cNvSpPr/>
          <p:nvPr/>
        </p:nvSpPr>
        <p:spPr>
          <a:xfrm>
            <a:off x="813871" y="2745978"/>
            <a:ext cx="2302214" cy="389533"/>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Limited Centralized Visibility</a:t>
            </a:r>
            <a:endParaRPr lang="en-US" sz="1200" dirty="0"/>
          </a:p>
        </p:txBody>
      </p:sp>
      <p:sp>
        <p:nvSpPr>
          <p:cNvPr id="10" name="Text 7"/>
          <p:cNvSpPr/>
          <p:nvPr/>
        </p:nvSpPr>
        <p:spPr>
          <a:xfrm>
            <a:off x="813871" y="3150263"/>
            <a:ext cx="2302214" cy="4973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Network information is not necessarily available through one unified operational interface.</a:t>
            </a:r>
            <a:endParaRPr lang="en-US" sz="9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6048" y="2614811"/>
            <a:ext cx="2615341" cy="1238052"/>
          </a:xfrm>
          <a:prstGeom prst="rect">
            <a:avLst/>
          </a:prstGeom>
        </p:spPr>
      </p:pic>
      <p:sp>
        <p:nvSpPr>
          <p:cNvPr id="12" name="Text 8"/>
          <p:cNvSpPr/>
          <p:nvPr/>
        </p:nvSpPr>
        <p:spPr>
          <a:xfrm>
            <a:off x="3518010" y="2745978"/>
            <a:ext cx="2302214" cy="194766"/>
          </a:xfrm>
          <a:prstGeom prst="rect">
            <a:avLst/>
          </a:prstGeom>
          <a:noFill/>
          <a:ln/>
        </p:spPr>
        <p:txBody>
          <a:bodyPr wrap="none" lIns="0" tIns="0" rIns="0" bIns="0" rtlCol="0" anchor="t"/>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Manual Monitoring Effort</a:t>
            </a:r>
            <a:endParaRPr lang="en-US" sz="1200" dirty="0"/>
          </a:p>
        </p:txBody>
      </p:sp>
      <p:sp>
        <p:nvSpPr>
          <p:cNvPr id="13" name="Text 9"/>
          <p:cNvSpPr/>
          <p:nvPr/>
        </p:nvSpPr>
        <p:spPr>
          <a:xfrm>
            <a:off x="3518010" y="3121073"/>
            <a:ext cx="2302214"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Administrators may need to inspect individual devices and interfaces.</a:t>
            </a:r>
            <a:endParaRPr lang="en-US" sz="900"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3941663"/>
            <a:ext cx="2615341" cy="1043285"/>
          </a:xfrm>
          <a:prstGeom prst="rect">
            <a:avLst/>
          </a:prstGeom>
        </p:spPr>
      </p:pic>
      <p:sp>
        <p:nvSpPr>
          <p:cNvPr id="15" name="Text 10"/>
          <p:cNvSpPr/>
          <p:nvPr/>
        </p:nvSpPr>
        <p:spPr>
          <a:xfrm>
            <a:off x="813871" y="4072830"/>
            <a:ext cx="2302214" cy="194766"/>
          </a:xfrm>
          <a:prstGeom prst="rect">
            <a:avLst/>
          </a:prstGeom>
          <a:noFill/>
          <a:ln/>
        </p:spPr>
        <p:txBody>
          <a:bodyPr wrap="none" lIns="0" tIns="0" rIns="0" bIns="0" rtlCol="0" anchor="t"/>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Delayed Fault Awareness</a:t>
            </a:r>
            <a:endParaRPr lang="en-US" sz="1200" dirty="0"/>
          </a:p>
        </p:txBody>
      </p:sp>
      <p:sp>
        <p:nvSpPr>
          <p:cNvPr id="16" name="Text 11"/>
          <p:cNvSpPr/>
          <p:nvPr/>
        </p:nvSpPr>
        <p:spPr>
          <a:xfrm>
            <a:off x="813871" y="4356398"/>
            <a:ext cx="2302214" cy="4973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Operational changes may not be identified immediately without continuous monitoring.</a:t>
            </a:r>
            <a:endParaRPr lang="en-US" sz="9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36048" y="3941663"/>
            <a:ext cx="2615341" cy="1043285"/>
          </a:xfrm>
          <a:prstGeom prst="rect">
            <a:avLst/>
          </a:prstGeom>
        </p:spPr>
      </p:pic>
      <p:sp>
        <p:nvSpPr>
          <p:cNvPr id="18" name="Text 12"/>
          <p:cNvSpPr/>
          <p:nvPr/>
        </p:nvSpPr>
        <p:spPr>
          <a:xfrm>
            <a:off x="3518010" y="4072830"/>
            <a:ext cx="2302214" cy="194766"/>
          </a:xfrm>
          <a:prstGeom prst="rect">
            <a:avLst/>
          </a:prstGeom>
          <a:noFill/>
          <a:ln/>
        </p:spPr>
        <p:txBody>
          <a:bodyPr wrap="none" lIns="0" tIns="0" rIns="0" bIns="0" rtlCol="0" anchor="t"/>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Difficult Alarm Tracking</a:t>
            </a:r>
            <a:endParaRPr lang="en-US" sz="1200" dirty="0"/>
          </a:p>
        </p:txBody>
      </p:sp>
      <p:sp>
        <p:nvSpPr>
          <p:cNvPr id="19" name="Text 13"/>
          <p:cNvSpPr/>
          <p:nvPr/>
        </p:nvSpPr>
        <p:spPr>
          <a:xfrm>
            <a:off x="3518010" y="4356398"/>
            <a:ext cx="2302214" cy="4973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Without structured alarm lifecycle management, active and resolved faults are harder to track.</a:t>
            </a:r>
            <a:endParaRPr lang="en-US" sz="9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5073749"/>
            <a:ext cx="2615341" cy="1043285"/>
          </a:xfrm>
          <a:prstGeom prst="rect">
            <a:avLst/>
          </a:prstGeom>
        </p:spPr>
      </p:pic>
      <p:sp>
        <p:nvSpPr>
          <p:cNvPr id="21" name="Text 14"/>
          <p:cNvSpPr/>
          <p:nvPr/>
        </p:nvSpPr>
        <p:spPr>
          <a:xfrm>
            <a:off x="813871" y="5204916"/>
            <a:ext cx="2302214" cy="194766"/>
          </a:xfrm>
          <a:prstGeom prst="rect">
            <a:avLst/>
          </a:prstGeom>
          <a:noFill/>
          <a:ln/>
        </p:spPr>
        <p:txBody>
          <a:bodyPr wrap="none" lIns="0" tIns="0" rIns="0" bIns="0" rtlCol="0" anchor="t"/>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Limited Data Organization</a:t>
            </a:r>
            <a:endParaRPr lang="en-US" sz="1200" dirty="0"/>
          </a:p>
        </p:txBody>
      </p:sp>
      <p:sp>
        <p:nvSpPr>
          <p:cNvPr id="22" name="Text 15"/>
          <p:cNvSpPr/>
          <p:nvPr/>
        </p:nvSpPr>
        <p:spPr>
          <a:xfrm>
            <a:off x="813871" y="5488484"/>
            <a:ext cx="2302214" cy="4973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Telemetry and operational information need to be consistently organized for monitoring and historical review.</a:t>
            </a:r>
            <a:endParaRPr lang="en-US" sz="900" dirty="0"/>
          </a:p>
        </p:txBody>
      </p:sp>
      <p:sp>
        <p:nvSpPr>
          <p:cNvPr id="23" name="Shape 16"/>
          <p:cNvSpPr/>
          <p:nvPr/>
        </p:nvSpPr>
        <p:spPr>
          <a:xfrm>
            <a:off x="6096000" y="1711027"/>
            <a:ext cx="5645748" cy="4596467"/>
          </a:xfrm>
          <a:prstGeom prst="roundRect">
            <a:avLst>
              <a:gd name="adj" fmla="val 1936"/>
            </a:avLst>
          </a:prstGeom>
          <a:solidFill>
            <a:srgbClr val="DA1B2E"/>
          </a:solidFill>
          <a:ln/>
        </p:spPr>
      </p:sp>
      <p:sp>
        <p:nvSpPr>
          <p:cNvPr id="24" name="Text 17"/>
          <p:cNvSpPr/>
          <p:nvPr/>
        </p:nvSpPr>
        <p:spPr>
          <a:xfrm>
            <a:off x="6279894" y="1899741"/>
            <a:ext cx="5253005" cy="194766"/>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Sora SemiBold" pitchFamily="34" charset="0"/>
                <a:ea typeface="Sora SemiBold" pitchFamily="34" charset="-122"/>
                <a:cs typeface="Sora SemiBold" pitchFamily="34" charset="-120"/>
              </a:rPr>
              <a:t>WIPRO NMS — Improved Approach</a:t>
            </a:r>
            <a:endParaRPr lang="en-US" sz="1200" dirty="0"/>
          </a:p>
        </p:txBody>
      </p:sp>
      <p:sp>
        <p:nvSpPr>
          <p:cNvPr id="25" name="Text 18"/>
          <p:cNvSpPr/>
          <p:nvPr/>
        </p:nvSpPr>
        <p:spPr>
          <a:xfrm>
            <a:off x="6279894" y="2183309"/>
            <a:ext cx="5253005"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FFFFFF"/>
                </a:solidFill>
                <a:latin typeface="Sora Light" pitchFamily="34" charset="0"/>
                <a:ea typeface="Sora Light" pitchFamily="34" charset="-122"/>
                <a:cs typeface="Sora Light" pitchFamily="34" charset="-120"/>
              </a:rPr>
              <a:t>Multiple devices → Centralized monitoring → Telemetry processing → Structured alarms → Unified dashboard</a:t>
            </a:r>
            <a:endParaRPr lang="en-US" sz="900" dirty="0"/>
          </a:p>
        </p:txBody>
      </p:sp>
      <p:sp>
        <p:nvSpPr>
          <p:cNvPr id="26" name="Shape 19"/>
          <p:cNvSpPr/>
          <p:nvPr/>
        </p:nvSpPr>
        <p:spPr>
          <a:xfrm>
            <a:off x="6279895" y="2614811"/>
            <a:ext cx="2552438" cy="1187995"/>
          </a:xfrm>
          <a:prstGeom prst="roundRect">
            <a:avLst>
              <a:gd name="adj" fmla="val 5754"/>
            </a:avLst>
          </a:prstGeom>
          <a:solidFill>
            <a:srgbClr val="F9D2D6"/>
          </a:solidFill>
          <a:ln w="6350">
            <a:solidFill>
              <a:srgbClr val="DFB8BC"/>
            </a:solidFill>
            <a:prstDash val="solid"/>
          </a:ln>
        </p:spPr>
      </p:sp>
      <p:sp>
        <p:nvSpPr>
          <p:cNvPr id="27" name="Text 20"/>
          <p:cNvSpPr/>
          <p:nvPr/>
        </p:nvSpPr>
        <p:spPr>
          <a:xfrm>
            <a:off x="6404708" y="2739628"/>
            <a:ext cx="2332475" cy="194766"/>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Sora SemiBold" pitchFamily="34" charset="0"/>
                <a:ea typeface="Sora SemiBold" pitchFamily="34" charset="-122"/>
                <a:cs typeface="Sora SemiBold" pitchFamily="34" charset="-120"/>
              </a:rPr>
              <a:t>Centralized Visibility</a:t>
            </a:r>
            <a:endParaRPr lang="en-US" sz="1200" dirty="0"/>
          </a:p>
        </p:txBody>
      </p:sp>
      <p:sp>
        <p:nvSpPr>
          <p:cNvPr id="28" name="Text 21"/>
          <p:cNvSpPr/>
          <p:nvPr/>
        </p:nvSpPr>
        <p:spPr>
          <a:xfrm>
            <a:off x="6404708" y="3023195"/>
            <a:ext cx="2332475"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Sora Light" pitchFamily="34" charset="0"/>
                <a:ea typeface="Sora Light" pitchFamily="34" charset="-122"/>
                <a:cs typeface="Sora Light" pitchFamily="34" charset="-120"/>
              </a:rPr>
              <a:t>All devices and interfaces visible from one unified dashboard.</a:t>
            </a:r>
            <a:endParaRPr lang="en-US" sz="900" dirty="0"/>
          </a:p>
        </p:txBody>
      </p:sp>
      <p:sp>
        <p:nvSpPr>
          <p:cNvPr id="29" name="Shape 22"/>
          <p:cNvSpPr/>
          <p:nvPr/>
        </p:nvSpPr>
        <p:spPr>
          <a:xfrm>
            <a:off x="8950796" y="2614811"/>
            <a:ext cx="2582103" cy="864791"/>
          </a:xfrm>
          <a:prstGeom prst="roundRect">
            <a:avLst>
              <a:gd name="adj" fmla="val 5754"/>
            </a:avLst>
          </a:prstGeom>
          <a:solidFill>
            <a:srgbClr val="F9D2D6"/>
          </a:solidFill>
          <a:ln w="6350">
            <a:solidFill>
              <a:srgbClr val="DFB8BC"/>
            </a:solidFill>
            <a:prstDash val="solid"/>
          </a:ln>
        </p:spPr>
      </p:sp>
      <p:sp>
        <p:nvSpPr>
          <p:cNvPr id="30" name="Text 23"/>
          <p:cNvSpPr/>
          <p:nvPr/>
        </p:nvSpPr>
        <p:spPr>
          <a:xfrm>
            <a:off x="9075610" y="2739628"/>
            <a:ext cx="2332475" cy="194766"/>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Sora SemiBold" pitchFamily="34" charset="0"/>
                <a:ea typeface="Sora SemiBold" pitchFamily="34" charset="-122"/>
                <a:cs typeface="Sora SemiBold" pitchFamily="34" charset="-120"/>
              </a:rPr>
              <a:t>Automated Monitoring</a:t>
            </a:r>
            <a:endParaRPr lang="en-US" sz="1200" dirty="0"/>
          </a:p>
        </p:txBody>
      </p:sp>
      <p:sp>
        <p:nvSpPr>
          <p:cNvPr id="31" name="Text 24"/>
          <p:cNvSpPr/>
          <p:nvPr/>
        </p:nvSpPr>
        <p:spPr>
          <a:xfrm>
            <a:off x="9075610" y="3023195"/>
            <a:ext cx="2332475"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Sora Light" pitchFamily="34" charset="0"/>
                <a:ea typeface="Sora Light" pitchFamily="34" charset="-122"/>
                <a:cs typeface="Sora Light" pitchFamily="34" charset="-120"/>
              </a:rPr>
              <a:t>Continuous telemetry collection replaces manual status checking.</a:t>
            </a:r>
            <a:endParaRPr lang="en-US" sz="900" dirty="0"/>
          </a:p>
        </p:txBody>
      </p:sp>
      <p:sp>
        <p:nvSpPr>
          <p:cNvPr id="32" name="Shape 25"/>
          <p:cNvSpPr/>
          <p:nvPr/>
        </p:nvSpPr>
        <p:spPr>
          <a:xfrm>
            <a:off x="6279894" y="3941664"/>
            <a:ext cx="2582103" cy="1410394"/>
          </a:xfrm>
          <a:prstGeom prst="roundRect">
            <a:avLst>
              <a:gd name="adj" fmla="val 5754"/>
            </a:avLst>
          </a:prstGeom>
          <a:solidFill>
            <a:srgbClr val="F9D2D6"/>
          </a:solidFill>
          <a:ln w="6350">
            <a:solidFill>
              <a:srgbClr val="DFB8BC"/>
            </a:solidFill>
            <a:prstDash val="solid"/>
          </a:ln>
        </p:spPr>
      </p:sp>
      <p:sp>
        <p:nvSpPr>
          <p:cNvPr id="33" name="Text 26"/>
          <p:cNvSpPr/>
          <p:nvPr/>
        </p:nvSpPr>
        <p:spPr>
          <a:xfrm>
            <a:off x="6442806" y="4066429"/>
            <a:ext cx="2332475" cy="194766"/>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Sora SemiBold" pitchFamily="34" charset="0"/>
                <a:ea typeface="Sora SemiBold" pitchFamily="34" charset="-122"/>
                <a:cs typeface="Sora SemiBold" pitchFamily="34" charset="-120"/>
              </a:rPr>
              <a:t>Immediate Fault Detection</a:t>
            </a:r>
            <a:endParaRPr lang="en-US" sz="1200" dirty="0"/>
          </a:p>
        </p:txBody>
      </p:sp>
      <p:sp>
        <p:nvSpPr>
          <p:cNvPr id="34" name="Text 27"/>
          <p:cNvSpPr/>
          <p:nvPr/>
        </p:nvSpPr>
        <p:spPr>
          <a:xfrm>
            <a:off x="6408281" y="4302670"/>
            <a:ext cx="2332475"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Sora Light" pitchFamily="34" charset="0"/>
                <a:ea typeface="Sora Light" pitchFamily="34" charset="-122"/>
                <a:cs typeface="Sora Light" pitchFamily="34" charset="-120"/>
              </a:rPr>
              <a:t>Alarm engine detects and records faults as they occur.</a:t>
            </a:r>
            <a:endParaRPr lang="en-US" sz="900" dirty="0"/>
          </a:p>
        </p:txBody>
      </p:sp>
      <p:sp>
        <p:nvSpPr>
          <p:cNvPr id="35" name="Shape 28"/>
          <p:cNvSpPr/>
          <p:nvPr/>
        </p:nvSpPr>
        <p:spPr>
          <a:xfrm>
            <a:off x="8950796" y="3568402"/>
            <a:ext cx="2582103" cy="1771848"/>
          </a:xfrm>
          <a:prstGeom prst="roundRect">
            <a:avLst>
              <a:gd name="adj" fmla="val 5754"/>
            </a:avLst>
          </a:prstGeom>
          <a:solidFill>
            <a:srgbClr val="F9D2D6"/>
          </a:solidFill>
          <a:ln w="6350">
            <a:solidFill>
              <a:srgbClr val="DFB8BC"/>
            </a:solidFill>
            <a:prstDash val="solid"/>
          </a:ln>
        </p:spPr>
      </p:sp>
      <p:sp>
        <p:nvSpPr>
          <p:cNvPr id="36" name="Text 29"/>
          <p:cNvSpPr/>
          <p:nvPr/>
        </p:nvSpPr>
        <p:spPr>
          <a:xfrm>
            <a:off x="9075610" y="3693220"/>
            <a:ext cx="2332475" cy="194766"/>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Sora SemiBold" pitchFamily="34" charset="0"/>
                <a:ea typeface="Sora SemiBold" pitchFamily="34" charset="-122"/>
                <a:cs typeface="Sora SemiBold" pitchFamily="34" charset="-120"/>
              </a:rPr>
              <a:t>Structured Alarm Lifecycle</a:t>
            </a:r>
            <a:endParaRPr lang="en-US" sz="1200" dirty="0"/>
          </a:p>
        </p:txBody>
      </p:sp>
      <p:sp>
        <p:nvSpPr>
          <p:cNvPr id="37" name="Text 30"/>
          <p:cNvSpPr/>
          <p:nvPr/>
        </p:nvSpPr>
        <p:spPr>
          <a:xfrm>
            <a:off x="9075610" y="3976787"/>
            <a:ext cx="2332475"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000000"/>
                </a:solidFill>
                <a:latin typeface="Sora Light" pitchFamily="34" charset="0"/>
                <a:ea typeface="Sora Light" pitchFamily="34" charset="-122"/>
                <a:cs typeface="Sora Light" pitchFamily="34" charset="-120"/>
              </a:rPr>
              <a:t>Alarms are created, updated, and cleared with full timestamp tracking.</a:t>
            </a:r>
            <a:endParaRPr lang="en-US" sz="900" dirty="0"/>
          </a:p>
        </p:txBody>
      </p:sp>
      <p:sp>
        <p:nvSpPr>
          <p:cNvPr id="38" name="Shape 31"/>
          <p:cNvSpPr/>
          <p:nvPr/>
        </p:nvSpPr>
        <p:spPr>
          <a:xfrm>
            <a:off x="6279894" y="5465068"/>
            <a:ext cx="5253005" cy="550664"/>
          </a:xfrm>
          <a:prstGeom prst="roundRect">
            <a:avLst>
              <a:gd name="adj" fmla="val 9037"/>
            </a:avLst>
          </a:prstGeom>
          <a:solidFill>
            <a:srgbClr val="710E18"/>
          </a:solidFill>
          <a:ln/>
        </p:spPr>
      </p:sp>
      <p:pic>
        <p:nvPicPr>
          <p:cNvPr id="39" name="Image 5" descr="preencoded.png"/>
          <p:cNvPicPr>
            <a:picLocks noChangeAspect="1"/>
          </p:cNvPicPr>
          <p:nvPr/>
        </p:nvPicPr>
        <p:blipFill>
          <a:blip r:embed="rId5"/>
          <a:stretch>
            <a:fillRect/>
          </a:stretch>
        </p:blipFill>
        <p:spPr>
          <a:xfrm>
            <a:off x="6442806" y="5677941"/>
            <a:ext cx="148031" cy="118467"/>
          </a:xfrm>
          <a:prstGeom prst="rect">
            <a:avLst/>
          </a:prstGeom>
        </p:spPr>
      </p:pic>
      <p:sp>
        <p:nvSpPr>
          <p:cNvPr id="40" name="Text 32"/>
          <p:cNvSpPr/>
          <p:nvPr/>
        </p:nvSpPr>
        <p:spPr>
          <a:xfrm>
            <a:off x="6901781" y="5571381"/>
            <a:ext cx="4749582" cy="331589"/>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FFFFFF"/>
                </a:solidFill>
                <a:latin typeface="Sora Light" pitchFamily="34" charset="0"/>
                <a:ea typeface="Sora Light" pitchFamily="34" charset="-122"/>
                <a:cs typeface="Sora Light" pitchFamily="34" charset="-120"/>
              </a:rPr>
              <a:t>WIPRO NMS brings network devices, operational data, telemetry, and alarm management into a centralized monitoring platform.</a:t>
            </a:r>
            <a:endParaRPr lang="en-US" sz="900" dirty="0"/>
          </a:p>
        </p:txBody>
      </p:sp>
      <p:pic>
        <p:nvPicPr>
          <p:cNvPr id="42" name="Picture 41">
            <a:extLst>
              <a:ext uri="{FF2B5EF4-FFF2-40B4-BE49-F238E27FC236}">
                <a16:creationId xmlns:a16="http://schemas.microsoft.com/office/drawing/2014/main" id="{C48E5C16-0FC1-C1C6-411F-602912706666}"/>
              </a:ext>
            </a:extLst>
          </p:cNvPr>
          <p:cNvPicPr>
            <a:picLocks noChangeAspect="1"/>
          </p:cNvPicPr>
          <p:nvPr/>
        </p:nvPicPr>
        <p:blipFill>
          <a:blip r:embed="rId6"/>
          <a:stretch>
            <a:fillRect/>
          </a:stretch>
        </p:blipFill>
        <p:spPr>
          <a:xfrm>
            <a:off x="10458923" y="6536085"/>
            <a:ext cx="1733078" cy="280005"/>
          </a:xfrm>
          <a:prstGeom prst="rect">
            <a:avLst/>
          </a:prstGeom>
        </p:spPr>
      </p:pic>
      <p:pic>
        <p:nvPicPr>
          <p:cNvPr id="44" name="Image 4" descr="preencoded.png">
            <a:extLst>
              <a:ext uri="{FF2B5EF4-FFF2-40B4-BE49-F238E27FC236}">
                <a16:creationId xmlns:a16="http://schemas.microsoft.com/office/drawing/2014/main" id="{3CCB1679-93A3-D5A3-404B-A3512E7272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25187" y="5078678"/>
            <a:ext cx="2615341" cy="1043285"/>
          </a:xfrm>
          <a:prstGeom prst="rect">
            <a:avLst/>
          </a:prstGeom>
        </p:spPr>
      </p:pic>
      <p:sp>
        <p:nvSpPr>
          <p:cNvPr id="48" name="TextBox 47">
            <a:extLst>
              <a:ext uri="{FF2B5EF4-FFF2-40B4-BE49-F238E27FC236}">
                <a16:creationId xmlns:a16="http://schemas.microsoft.com/office/drawing/2014/main" id="{02E5710D-C67E-5F0B-100C-6F6B127D2311}"/>
              </a:ext>
            </a:extLst>
          </p:cNvPr>
          <p:cNvSpPr txBox="1"/>
          <p:nvPr/>
        </p:nvSpPr>
        <p:spPr>
          <a:xfrm>
            <a:off x="3402721" y="5173306"/>
            <a:ext cx="6097554" cy="278474"/>
          </a:xfrm>
          <a:prstGeom prst="rect">
            <a:avLst/>
          </a:prstGeom>
          <a:noFill/>
        </p:spPr>
        <p:txBody>
          <a:bodyPr wrap="square">
            <a:spAutoFit/>
          </a:bodyPr>
          <a:lstStyle/>
          <a:p>
            <a:pPr marL="0" indent="0" algn="l">
              <a:lnSpc>
                <a:spcPct val="104000"/>
              </a:lnSpc>
              <a:buNone/>
            </a:pPr>
            <a:r>
              <a:rPr lang="en-US" sz="1200" dirty="0">
                <a:solidFill>
                  <a:srgbClr val="3B3535"/>
                </a:solidFill>
                <a:latin typeface="Sora SemiBold" pitchFamily="34" charset="0"/>
                <a:ea typeface="Sora SemiBold" pitchFamily="34" charset="-122"/>
                <a:cs typeface="Sora SemiBold" pitchFamily="34" charset="-120"/>
              </a:rPr>
              <a:t>Higher Monitoring Effort</a:t>
            </a:r>
            <a:endParaRPr lang="en-US" sz="1200" dirty="0"/>
          </a:p>
        </p:txBody>
      </p:sp>
      <p:sp>
        <p:nvSpPr>
          <p:cNvPr id="50" name="TextBox 49">
            <a:extLst>
              <a:ext uri="{FF2B5EF4-FFF2-40B4-BE49-F238E27FC236}">
                <a16:creationId xmlns:a16="http://schemas.microsoft.com/office/drawing/2014/main" id="{73FF794D-48AB-5C1D-0A4F-BA6D55B7B072}"/>
              </a:ext>
            </a:extLst>
          </p:cNvPr>
          <p:cNvSpPr txBox="1"/>
          <p:nvPr/>
        </p:nvSpPr>
        <p:spPr>
          <a:xfrm>
            <a:off x="3402721" y="5419956"/>
            <a:ext cx="2682418" cy="569515"/>
          </a:xfrm>
          <a:prstGeom prst="rect">
            <a:avLst/>
          </a:prstGeom>
          <a:noFill/>
        </p:spPr>
        <p:txBody>
          <a:bodyPr wrap="square">
            <a:spAutoFit/>
          </a:bodyPr>
          <a:lstStyle/>
          <a:p>
            <a:pPr marL="0" indent="0" algn="l">
              <a:lnSpc>
                <a:spcPct val="117000"/>
              </a:lnSpc>
              <a:buNone/>
            </a:pPr>
            <a:r>
              <a:rPr lang="en-US" sz="900" dirty="0">
                <a:solidFill>
                  <a:srgbClr val="3B3535"/>
                </a:solidFill>
                <a:latin typeface="Sora Light" pitchFamily="34" charset="0"/>
                <a:ea typeface="Sora Light" pitchFamily="34" charset="-122"/>
                <a:cs typeface="Sora Light" pitchFamily="34" charset="-120"/>
              </a:rPr>
              <a:t>As the number of devices and interfaces increases, checking each component individually becomes more difficult.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85" name="Image 0" descr="preencoded.png">
            <a:extLst>
              <a:ext uri="{FF2B5EF4-FFF2-40B4-BE49-F238E27FC236}">
                <a16:creationId xmlns:a16="http://schemas.microsoft.com/office/drawing/2014/main" id="{7E882CF5-77D9-2168-4B94-A0D3710E43F6}"/>
              </a:ext>
            </a:extLst>
          </p:cNvPr>
          <p:cNvPicPr>
            <a:picLocks noChangeAspect="1"/>
          </p:cNvPicPr>
          <p:nvPr/>
        </p:nvPicPr>
        <p:blipFill>
          <a:blip r:embed="rId3"/>
          <a:stretch>
            <a:fillRect/>
          </a:stretch>
        </p:blipFill>
        <p:spPr>
          <a:xfrm>
            <a:off x="6683216" y="2939551"/>
            <a:ext cx="4712074" cy="3539228"/>
          </a:xfrm>
          <a:prstGeom prst="rect">
            <a:avLst/>
          </a:prstGeom>
        </p:spPr>
      </p:pic>
      <p:sp>
        <p:nvSpPr>
          <p:cNvPr id="2" name="Shape 0"/>
          <p:cNvSpPr/>
          <p:nvPr/>
        </p:nvSpPr>
        <p:spPr>
          <a:xfrm>
            <a:off x="631908" y="482501"/>
            <a:ext cx="1288919" cy="133945"/>
          </a:xfrm>
          <a:prstGeom prst="roundRect">
            <a:avLst>
              <a:gd name="adj" fmla="val 22136"/>
            </a:avLst>
          </a:prstGeom>
          <a:solidFill>
            <a:srgbClr val="F9D2D6"/>
          </a:solidFill>
          <a:ln/>
        </p:spPr>
      </p:sp>
      <p:sp>
        <p:nvSpPr>
          <p:cNvPr id="3" name="Text 1"/>
          <p:cNvSpPr/>
          <p:nvPr/>
        </p:nvSpPr>
        <p:spPr>
          <a:xfrm>
            <a:off x="684791" y="508893"/>
            <a:ext cx="1792739" cy="81161"/>
          </a:xfrm>
          <a:prstGeom prst="rect">
            <a:avLst/>
          </a:prstGeom>
          <a:noFill/>
          <a:ln/>
        </p:spPr>
        <p:txBody>
          <a:bodyPr wrap="none" lIns="0" tIns="0" rIns="0" bIns="0" rtlCol="0" anchor="t"/>
          <a:lstStyle/>
          <a:p>
            <a:pPr marL="0" indent="0" algn="l">
              <a:lnSpc>
                <a:spcPct val="96000"/>
              </a:lnSpc>
              <a:buNone/>
            </a:pPr>
            <a:r>
              <a:rPr lang="en-US" sz="550" dirty="0">
                <a:solidFill>
                  <a:srgbClr val="3B3535"/>
                </a:solidFill>
                <a:latin typeface="Sora Light" pitchFamily="34" charset="0"/>
                <a:ea typeface="Sora Light" pitchFamily="34" charset="-122"/>
                <a:cs typeface="Sora Light" pitchFamily="34" charset="-120"/>
              </a:rPr>
              <a:t>METHODOLOGY &amp; TECHNOLOGY</a:t>
            </a:r>
            <a:endParaRPr lang="en-US" sz="550" dirty="0"/>
          </a:p>
        </p:txBody>
      </p:sp>
      <p:sp>
        <p:nvSpPr>
          <p:cNvPr id="4" name="Text 2"/>
          <p:cNvSpPr/>
          <p:nvPr/>
        </p:nvSpPr>
        <p:spPr>
          <a:xfrm>
            <a:off x="631908" y="636091"/>
            <a:ext cx="10927878" cy="290314"/>
          </a:xfrm>
          <a:prstGeom prst="rect">
            <a:avLst/>
          </a:prstGeom>
          <a:noFill/>
          <a:ln/>
        </p:spPr>
        <p:txBody>
          <a:bodyPr wrap="none" lIns="0" tIns="0" rIns="0" bIns="0" rtlCol="0" anchor="t"/>
          <a:lstStyle/>
          <a:p>
            <a:pPr marL="0" indent="0" algn="l">
              <a:lnSpc>
                <a:spcPct val="104000"/>
              </a:lnSpc>
              <a:buNone/>
            </a:pPr>
            <a:r>
              <a:rPr lang="en-US" sz="1800" dirty="0">
                <a:solidFill>
                  <a:srgbClr val="1F1E1E"/>
                </a:solidFill>
                <a:latin typeface="Sora SemiBold" pitchFamily="34" charset="0"/>
                <a:ea typeface="Sora SemiBold" pitchFamily="34" charset="-122"/>
                <a:cs typeface="Sora SemiBold" pitchFamily="34" charset="-120"/>
              </a:rPr>
              <a:t>Methodology and Technology Stack</a:t>
            </a:r>
            <a:endParaRPr lang="en-US" sz="1800" dirty="0"/>
          </a:p>
        </p:txBody>
      </p:sp>
      <p:sp>
        <p:nvSpPr>
          <p:cNvPr id="5" name="Text 3"/>
          <p:cNvSpPr/>
          <p:nvPr/>
        </p:nvSpPr>
        <p:spPr>
          <a:xfrm>
            <a:off x="631908" y="1049536"/>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Development Methodology</a:t>
            </a:r>
            <a:endParaRPr lang="en-US" sz="900" dirty="0"/>
          </a:p>
        </p:txBody>
      </p:sp>
      <p:sp>
        <p:nvSpPr>
          <p:cNvPr id="6" name="Text 4"/>
          <p:cNvSpPr/>
          <p:nvPr/>
        </p:nvSpPr>
        <p:spPr>
          <a:xfrm>
            <a:off x="631908" y="1249958"/>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01</a:t>
            </a:r>
            <a:endParaRPr lang="en-US" sz="650" dirty="0"/>
          </a:p>
        </p:txBody>
      </p:sp>
      <p:sp>
        <p:nvSpPr>
          <p:cNvPr id="7" name="Shape 5"/>
          <p:cNvSpPr/>
          <p:nvPr/>
        </p:nvSpPr>
        <p:spPr>
          <a:xfrm>
            <a:off x="631908" y="1387078"/>
            <a:ext cx="5356289" cy="12700"/>
          </a:xfrm>
          <a:prstGeom prst="rect">
            <a:avLst/>
          </a:prstGeom>
          <a:solidFill>
            <a:srgbClr val="DA1B2E"/>
          </a:solidFill>
          <a:ln/>
        </p:spPr>
      </p:sp>
      <p:sp>
        <p:nvSpPr>
          <p:cNvPr id="8" name="Text 6"/>
          <p:cNvSpPr/>
          <p:nvPr/>
        </p:nvSpPr>
        <p:spPr>
          <a:xfrm>
            <a:off x="631908" y="1456531"/>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Requirement Analysis</a:t>
            </a:r>
            <a:endParaRPr lang="en-US" sz="900" dirty="0"/>
          </a:p>
        </p:txBody>
      </p:sp>
      <p:sp>
        <p:nvSpPr>
          <p:cNvPr id="9" name="Text 7"/>
          <p:cNvSpPr/>
          <p:nvPr/>
        </p:nvSpPr>
        <p:spPr>
          <a:xfrm>
            <a:off x="631908" y="1650802"/>
            <a:ext cx="5356289" cy="219869"/>
          </a:xfrm>
          <a:prstGeom prst="rect">
            <a:avLst/>
          </a:prstGeom>
          <a:noFill/>
          <a:ln/>
        </p:spPr>
        <p:txBody>
          <a:bodyPr wrap="square" lIns="0" tIns="0" rIns="0" bIns="0" rtlCol="0" anchor="t">
            <a:normAutofit/>
          </a:bodyPr>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Identify requirements for device management, interface monitoring, telemetry, alarm management, and dashboard visualization.</a:t>
            </a:r>
            <a:endParaRPr lang="en-US" sz="650" dirty="0"/>
          </a:p>
        </p:txBody>
      </p:sp>
      <p:sp>
        <p:nvSpPr>
          <p:cNvPr id="10" name="Text 8"/>
          <p:cNvSpPr/>
          <p:nvPr/>
        </p:nvSpPr>
        <p:spPr>
          <a:xfrm>
            <a:off x="631908" y="1986062"/>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02</a:t>
            </a:r>
            <a:endParaRPr lang="en-US" sz="650" dirty="0"/>
          </a:p>
        </p:txBody>
      </p:sp>
      <p:sp>
        <p:nvSpPr>
          <p:cNvPr id="11" name="Shape 9"/>
          <p:cNvSpPr/>
          <p:nvPr/>
        </p:nvSpPr>
        <p:spPr>
          <a:xfrm>
            <a:off x="631908" y="2123182"/>
            <a:ext cx="5356289" cy="12700"/>
          </a:xfrm>
          <a:prstGeom prst="rect">
            <a:avLst/>
          </a:prstGeom>
          <a:solidFill>
            <a:srgbClr val="DA1B2E"/>
          </a:solidFill>
          <a:ln/>
        </p:spPr>
      </p:sp>
      <p:sp>
        <p:nvSpPr>
          <p:cNvPr id="12" name="Text 10"/>
          <p:cNvSpPr/>
          <p:nvPr/>
        </p:nvSpPr>
        <p:spPr>
          <a:xfrm>
            <a:off x="631908" y="2192635"/>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Network Environment Setup</a:t>
            </a:r>
            <a:endParaRPr lang="en-US" sz="900" dirty="0"/>
          </a:p>
        </p:txBody>
      </p:sp>
      <p:sp>
        <p:nvSpPr>
          <p:cNvPr id="13" name="Text 11"/>
          <p:cNvSpPr/>
          <p:nvPr/>
        </p:nvSpPr>
        <p:spPr>
          <a:xfrm>
            <a:off x="631908" y="2386905"/>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Build the virtual network topology using GNS3 + FRRouting.</a:t>
            </a:r>
            <a:endParaRPr lang="en-US" sz="650" dirty="0"/>
          </a:p>
        </p:txBody>
      </p:sp>
      <p:sp>
        <p:nvSpPr>
          <p:cNvPr id="14" name="Text 12"/>
          <p:cNvSpPr/>
          <p:nvPr/>
        </p:nvSpPr>
        <p:spPr>
          <a:xfrm>
            <a:off x="631908" y="2612231"/>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03</a:t>
            </a:r>
            <a:endParaRPr lang="en-US" sz="650" dirty="0"/>
          </a:p>
        </p:txBody>
      </p:sp>
      <p:sp>
        <p:nvSpPr>
          <p:cNvPr id="15" name="Shape 13"/>
          <p:cNvSpPr/>
          <p:nvPr/>
        </p:nvSpPr>
        <p:spPr>
          <a:xfrm>
            <a:off x="631908" y="2749352"/>
            <a:ext cx="5356289" cy="12700"/>
          </a:xfrm>
          <a:prstGeom prst="rect">
            <a:avLst/>
          </a:prstGeom>
          <a:solidFill>
            <a:srgbClr val="DA1B2E"/>
          </a:solidFill>
          <a:ln/>
        </p:spPr>
      </p:sp>
      <p:sp>
        <p:nvSpPr>
          <p:cNvPr id="16" name="Text 14"/>
          <p:cNvSpPr/>
          <p:nvPr/>
        </p:nvSpPr>
        <p:spPr>
          <a:xfrm>
            <a:off x="631908" y="2818805"/>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Backend Development</a:t>
            </a:r>
            <a:endParaRPr lang="en-US" sz="900" dirty="0"/>
          </a:p>
        </p:txBody>
      </p:sp>
      <p:sp>
        <p:nvSpPr>
          <p:cNvPr id="17" name="Text 15"/>
          <p:cNvSpPr/>
          <p:nvPr/>
        </p:nvSpPr>
        <p:spPr>
          <a:xfrm>
            <a:off x="631908" y="3013075"/>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Develop the backend using Java 21 + Spring Boot 4.0.8. Implement REST APIs, services, and persistence.</a:t>
            </a:r>
            <a:endParaRPr lang="en-US" sz="650" dirty="0"/>
          </a:p>
        </p:txBody>
      </p:sp>
      <p:sp>
        <p:nvSpPr>
          <p:cNvPr id="18" name="Text 16"/>
          <p:cNvSpPr/>
          <p:nvPr/>
        </p:nvSpPr>
        <p:spPr>
          <a:xfrm>
            <a:off x="631908" y="3238401"/>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04</a:t>
            </a:r>
            <a:endParaRPr lang="en-US" sz="650" dirty="0"/>
          </a:p>
        </p:txBody>
      </p:sp>
      <p:sp>
        <p:nvSpPr>
          <p:cNvPr id="19" name="Shape 17"/>
          <p:cNvSpPr/>
          <p:nvPr/>
        </p:nvSpPr>
        <p:spPr>
          <a:xfrm>
            <a:off x="631908" y="3375521"/>
            <a:ext cx="5356289" cy="12700"/>
          </a:xfrm>
          <a:prstGeom prst="rect">
            <a:avLst/>
          </a:prstGeom>
          <a:solidFill>
            <a:srgbClr val="DA1B2E"/>
          </a:solidFill>
          <a:ln/>
        </p:spPr>
      </p:sp>
      <p:sp>
        <p:nvSpPr>
          <p:cNvPr id="20" name="Text 18"/>
          <p:cNvSpPr/>
          <p:nvPr/>
        </p:nvSpPr>
        <p:spPr>
          <a:xfrm>
            <a:off x="631908" y="3444974"/>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Telemetry Processing</a:t>
            </a:r>
            <a:endParaRPr lang="en-US" sz="900" dirty="0"/>
          </a:p>
        </p:txBody>
      </p:sp>
      <p:sp>
        <p:nvSpPr>
          <p:cNvPr id="21" name="Text 19"/>
          <p:cNvSpPr/>
          <p:nvPr/>
        </p:nvSpPr>
        <p:spPr>
          <a:xfrm>
            <a:off x="631908" y="3639245"/>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Process monitoring information and associate it with the relevant device/interface.</a:t>
            </a:r>
            <a:endParaRPr lang="en-US" sz="650" dirty="0"/>
          </a:p>
        </p:txBody>
      </p:sp>
      <p:sp>
        <p:nvSpPr>
          <p:cNvPr id="22" name="Text 20"/>
          <p:cNvSpPr/>
          <p:nvPr/>
        </p:nvSpPr>
        <p:spPr>
          <a:xfrm>
            <a:off x="631908" y="3864570"/>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05</a:t>
            </a:r>
            <a:endParaRPr lang="en-US" sz="650" dirty="0"/>
          </a:p>
        </p:txBody>
      </p:sp>
      <p:sp>
        <p:nvSpPr>
          <p:cNvPr id="23" name="Shape 21"/>
          <p:cNvSpPr/>
          <p:nvPr/>
        </p:nvSpPr>
        <p:spPr>
          <a:xfrm>
            <a:off x="631908" y="4001691"/>
            <a:ext cx="5356289" cy="12700"/>
          </a:xfrm>
          <a:prstGeom prst="rect">
            <a:avLst/>
          </a:prstGeom>
          <a:solidFill>
            <a:srgbClr val="DA1B2E"/>
          </a:solidFill>
          <a:ln/>
        </p:spPr>
      </p:sp>
      <p:sp>
        <p:nvSpPr>
          <p:cNvPr id="24" name="Text 22"/>
          <p:cNvSpPr/>
          <p:nvPr/>
        </p:nvSpPr>
        <p:spPr>
          <a:xfrm>
            <a:off x="631908" y="4071144"/>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Alarm Implementation</a:t>
            </a:r>
            <a:endParaRPr lang="en-US" sz="900" dirty="0"/>
          </a:p>
        </p:txBody>
      </p:sp>
      <p:sp>
        <p:nvSpPr>
          <p:cNvPr id="25" name="Text 23"/>
          <p:cNvSpPr/>
          <p:nvPr/>
        </p:nvSpPr>
        <p:spPr>
          <a:xfrm>
            <a:off x="631908" y="4265414"/>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Implement: Detection → Creation → Update → Clearing.</a:t>
            </a:r>
            <a:endParaRPr lang="en-US" sz="650" dirty="0"/>
          </a:p>
        </p:txBody>
      </p:sp>
      <p:sp>
        <p:nvSpPr>
          <p:cNvPr id="26" name="Text 24"/>
          <p:cNvSpPr/>
          <p:nvPr/>
        </p:nvSpPr>
        <p:spPr>
          <a:xfrm>
            <a:off x="631908" y="4490740"/>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06</a:t>
            </a:r>
            <a:endParaRPr lang="en-US" sz="650" dirty="0"/>
          </a:p>
        </p:txBody>
      </p:sp>
      <p:sp>
        <p:nvSpPr>
          <p:cNvPr id="27" name="Shape 25"/>
          <p:cNvSpPr/>
          <p:nvPr/>
        </p:nvSpPr>
        <p:spPr>
          <a:xfrm>
            <a:off x="631908" y="4627860"/>
            <a:ext cx="5356289" cy="12700"/>
          </a:xfrm>
          <a:prstGeom prst="rect">
            <a:avLst/>
          </a:prstGeom>
          <a:solidFill>
            <a:srgbClr val="DA1B2E"/>
          </a:solidFill>
          <a:ln/>
        </p:spPr>
      </p:sp>
      <p:sp>
        <p:nvSpPr>
          <p:cNvPr id="28" name="Text 26"/>
          <p:cNvSpPr/>
          <p:nvPr/>
        </p:nvSpPr>
        <p:spPr>
          <a:xfrm>
            <a:off x="631908" y="4697313"/>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Database Integration</a:t>
            </a:r>
            <a:endParaRPr lang="en-US" sz="900" dirty="0"/>
          </a:p>
        </p:txBody>
      </p:sp>
      <p:sp>
        <p:nvSpPr>
          <p:cNvPr id="29" name="Text 27"/>
          <p:cNvSpPr/>
          <p:nvPr/>
        </p:nvSpPr>
        <p:spPr>
          <a:xfrm>
            <a:off x="631908" y="4891584"/>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Persist Devices, Interfaces, Telemetry, and Alarms using PostgreSQL.</a:t>
            </a:r>
            <a:endParaRPr lang="en-US" sz="650" dirty="0"/>
          </a:p>
        </p:txBody>
      </p:sp>
      <p:sp>
        <p:nvSpPr>
          <p:cNvPr id="30" name="Text 28"/>
          <p:cNvSpPr/>
          <p:nvPr/>
        </p:nvSpPr>
        <p:spPr>
          <a:xfrm>
            <a:off x="631908" y="5116909"/>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07</a:t>
            </a:r>
            <a:endParaRPr lang="en-US" sz="650" dirty="0"/>
          </a:p>
        </p:txBody>
      </p:sp>
      <p:sp>
        <p:nvSpPr>
          <p:cNvPr id="31" name="Shape 29"/>
          <p:cNvSpPr/>
          <p:nvPr/>
        </p:nvSpPr>
        <p:spPr>
          <a:xfrm>
            <a:off x="631908" y="5254030"/>
            <a:ext cx="5356289" cy="12700"/>
          </a:xfrm>
          <a:prstGeom prst="rect">
            <a:avLst/>
          </a:prstGeom>
          <a:solidFill>
            <a:srgbClr val="DA1B2E"/>
          </a:solidFill>
          <a:ln/>
        </p:spPr>
      </p:sp>
      <p:sp>
        <p:nvSpPr>
          <p:cNvPr id="32" name="Text 30"/>
          <p:cNvSpPr/>
          <p:nvPr/>
        </p:nvSpPr>
        <p:spPr>
          <a:xfrm>
            <a:off x="631908" y="5323483"/>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Frontend Development</a:t>
            </a:r>
            <a:endParaRPr lang="en-US" sz="900" dirty="0"/>
          </a:p>
        </p:txBody>
      </p:sp>
      <p:sp>
        <p:nvSpPr>
          <p:cNvPr id="33" name="Text 31"/>
          <p:cNvSpPr/>
          <p:nvPr/>
        </p:nvSpPr>
        <p:spPr>
          <a:xfrm>
            <a:off x="631908" y="5517753"/>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Build the monitoring dashboard using React + Tailwind CSS.</a:t>
            </a:r>
            <a:endParaRPr lang="en-US" sz="650" dirty="0"/>
          </a:p>
        </p:txBody>
      </p:sp>
      <p:sp>
        <p:nvSpPr>
          <p:cNvPr id="34" name="Text 32"/>
          <p:cNvSpPr/>
          <p:nvPr/>
        </p:nvSpPr>
        <p:spPr>
          <a:xfrm>
            <a:off x="631908" y="5743079"/>
            <a:ext cx="176407" cy="110232"/>
          </a:xfrm>
          <a:prstGeom prst="rect">
            <a:avLst/>
          </a:prstGeom>
          <a:noFill/>
          <a:ln/>
        </p:spPr>
        <p:txBody>
          <a:bodyPr wrap="none" lIns="0" tIns="0" rIns="0" bIns="0" rtlCol="0" anchor="ctr"/>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08</a:t>
            </a:r>
            <a:endParaRPr lang="en-US" sz="650" dirty="0"/>
          </a:p>
        </p:txBody>
      </p:sp>
      <p:sp>
        <p:nvSpPr>
          <p:cNvPr id="35" name="Shape 33"/>
          <p:cNvSpPr/>
          <p:nvPr/>
        </p:nvSpPr>
        <p:spPr>
          <a:xfrm>
            <a:off x="631908" y="5880199"/>
            <a:ext cx="5356289" cy="12700"/>
          </a:xfrm>
          <a:prstGeom prst="rect">
            <a:avLst/>
          </a:prstGeom>
          <a:solidFill>
            <a:srgbClr val="DA1B2E"/>
          </a:solidFill>
          <a:ln/>
        </p:spPr>
      </p:sp>
      <p:sp>
        <p:nvSpPr>
          <p:cNvPr id="36" name="Text 34"/>
          <p:cNvSpPr/>
          <p:nvPr/>
        </p:nvSpPr>
        <p:spPr>
          <a:xfrm>
            <a:off x="631908" y="5949652"/>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AI-Powered Network Intelligence</a:t>
            </a:r>
          </a:p>
        </p:txBody>
      </p:sp>
      <p:sp>
        <p:nvSpPr>
          <p:cNvPr id="37" name="Text 35"/>
          <p:cNvSpPr/>
          <p:nvPr/>
        </p:nvSpPr>
        <p:spPr>
          <a:xfrm>
            <a:off x="631908" y="6143923"/>
            <a:ext cx="5356289"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Analyzes network and alarms to detect anomalies, root-cause analysis, reduce alarm noise and explain incidents to the operator.</a:t>
            </a:r>
          </a:p>
        </p:txBody>
      </p:sp>
      <p:sp>
        <p:nvSpPr>
          <p:cNvPr id="38" name="Text 36"/>
          <p:cNvSpPr/>
          <p:nvPr/>
        </p:nvSpPr>
        <p:spPr>
          <a:xfrm>
            <a:off x="6209847" y="1049536"/>
            <a:ext cx="5356289" cy="145058"/>
          </a:xfrm>
          <a:prstGeom prst="rect">
            <a:avLst/>
          </a:prstGeom>
          <a:noFill/>
          <a:ln/>
        </p:spPr>
        <p:txBody>
          <a:bodyPr wrap="none" lIns="0" tIns="0" rIns="0" bIns="0" rtlCol="0" anchor="t"/>
          <a:lstStyle/>
          <a:p>
            <a:pPr marL="0" indent="0" algn="l">
              <a:lnSpc>
                <a:spcPct val="104000"/>
              </a:lnSpc>
              <a:buNone/>
            </a:pPr>
            <a:r>
              <a:rPr lang="en-US" sz="900" dirty="0">
                <a:solidFill>
                  <a:srgbClr val="1F1E1E"/>
                </a:solidFill>
                <a:latin typeface="Sora SemiBold" pitchFamily="34" charset="0"/>
                <a:ea typeface="Sora SemiBold" pitchFamily="34" charset="-122"/>
                <a:cs typeface="Sora SemiBold" pitchFamily="34" charset="-120"/>
              </a:rPr>
              <a:t>Technology Stack</a:t>
            </a:r>
            <a:endParaRPr lang="en-US" sz="900" dirty="0"/>
          </a:p>
        </p:txBody>
      </p:sp>
      <p:sp>
        <p:nvSpPr>
          <p:cNvPr id="39" name="Shape 37"/>
          <p:cNvSpPr/>
          <p:nvPr/>
        </p:nvSpPr>
        <p:spPr>
          <a:xfrm>
            <a:off x="6209847" y="1249958"/>
            <a:ext cx="2653539" cy="603250"/>
          </a:xfrm>
          <a:prstGeom prst="roundRect">
            <a:avLst>
              <a:gd name="adj" fmla="val 6144"/>
            </a:avLst>
          </a:prstGeom>
          <a:solidFill>
            <a:srgbClr val="F9D2D6"/>
          </a:solidFill>
          <a:ln w="6350">
            <a:solidFill>
              <a:srgbClr val="DFB8BC"/>
            </a:solidFill>
            <a:prstDash val="solid"/>
          </a:ln>
        </p:spPr>
      </p:sp>
      <p:sp>
        <p:nvSpPr>
          <p:cNvPr id="40" name="Text 38"/>
          <p:cNvSpPr/>
          <p:nvPr/>
        </p:nvSpPr>
        <p:spPr>
          <a:xfrm>
            <a:off x="6304400" y="1344513"/>
            <a:ext cx="2464433"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Network &amp; Simulation</a:t>
            </a:r>
            <a:endParaRPr lang="en-US" sz="900" dirty="0"/>
          </a:p>
        </p:txBody>
      </p:sp>
      <p:sp>
        <p:nvSpPr>
          <p:cNvPr id="41" name="Text 39"/>
          <p:cNvSpPr/>
          <p:nvPr/>
        </p:nvSpPr>
        <p:spPr>
          <a:xfrm>
            <a:off x="6304400" y="1538784"/>
            <a:ext cx="2464433"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GNS3 • FRRouting (FRR) • SNMP</a:t>
            </a:r>
            <a:endParaRPr lang="en-US" sz="650" dirty="0"/>
          </a:p>
        </p:txBody>
      </p:sp>
      <p:sp>
        <p:nvSpPr>
          <p:cNvPr id="42" name="Shape 40"/>
          <p:cNvSpPr/>
          <p:nvPr/>
        </p:nvSpPr>
        <p:spPr>
          <a:xfrm>
            <a:off x="8912597" y="1249958"/>
            <a:ext cx="2653539" cy="603250"/>
          </a:xfrm>
          <a:prstGeom prst="roundRect">
            <a:avLst>
              <a:gd name="adj" fmla="val 6144"/>
            </a:avLst>
          </a:prstGeom>
          <a:solidFill>
            <a:srgbClr val="F9D2D6"/>
          </a:solidFill>
          <a:ln w="6350">
            <a:solidFill>
              <a:srgbClr val="DFB8BC"/>
            </a:solidFill>
            <a:prstDash val="solid"/>
          </a:ln>
        </p:spPr>
      </p:sp>
      <p:sp>
        <p:nvSpPr>
          <p:cNvPr id="43" name="Text 41"/>
          <p:cNvSpPr/>
          <p:nvPr/>
        </p:nvSpPr>
        <p:spPr>
          <a:xfrm>
            <a:off x="9007150" y="1344513"/>
            <a:ext cx="2464433"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Backend</a:t>
            </a:r>
            <a:endParaRPr lang="en-US" sz="900" dirty="0"/>
          </a:p>
        </p:txBody>
      </p:sp>
      <p:sp>
        <p:nvSpPr>
          <p:cNvPr id="44" name="Text 42"/>
          <p:cNvSpPr/>
          <p:nvPr/>
        </p:nvSpPr>
        <p:spPr>
          <a:xfrm>
            <a:off x="9007150" y="1538784"/>
            <a:ext cx="2464433" cy="219869"/>
          </a:xfrm>
          <a:prstGeom prst="rect">
            <a:avLst/>
          </a:prstGeom>
          <a:noFill/>
          <a:ln/>
        </p:spPr>
        <p:txBody>
          <a:bodyPr wrap="square" lIns="0" tIns="0" rIns="0" bIns="0" rtlCol="0" anchor="t">
            <a:normAutofit/>
          </a:bodyPr>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Java 21 • Spring Boot 4.0.8 • Spring Data JPA • Hibernate ORM • Maven</a:t>
            </a:r>
            <a:endParaRPr lang="en-US" sz="650" dirty="0"/>
          </a:p>
        </p:txBody>
      </p:sp>
      <p:sp>
        <p:nvSpPr>
          <p:cNvPr id="45" name="Shape 43"/>
          <p:cNvSpPr/>
          <p:nvPr/>
        </p:nvSpPr>
        <p:spPr>
          <a:xfrm>
            <a:off x="6209847" y="1902420"/>
            <a:ext cx="2653539" cy="493316"/>
          </a:xfrm>
          <a:prstGeom prst="roundRect">
            <a:avLst>
              <a:gd name="adj" fmla="val 7513"/>
            </a:avLst>
          </a:prstGeom>
          <a:solidFill>
            <a:srgbClr val="F9D2D6"/>
          </a:solidFill>
          <a:ln w="6350">
            <a:solidFill>
              <a:srgbClr val="DFB8BC"/>
            </a:solidFill>
            <a:prstDash val="solid"/>
          </a:ln>
        </p:spPr>
      </p:sp>
      <p:sp>
        <p:nvSpPr>
          <p:cNvPr id="46" name="Text 44"/>
          <p:cNvSpPr/>
          <p:nvPr/>
        </p:nvSpPr>
        <p:spPr>
          <a:xfrm>
            <a:off x="6304400" y="1996976"/>
            <a:ext cx="2464433"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Database</a:t>
            </a:r>
            <a:endParaRPr lang="en-US" sz="900" dirty="0"/>
          </a:p>
        </p:txBody>
      </p:sp>
      <p:sp>
        <p:nvSpPr>
          <p:cNvPr id="47" name="Text 45"/>
          <p:cNvSpPr/>
          <p:nvPr/>
        </p:nvSpPr>
        <p:spPr>
          <a:xfrm>
            <a:off x="6304400" y="2191246"/>
            <a:ext cx="2464433"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PostgreSQL 17 • Supabase • HikariCP</a:t>
            </a:r>
            <a:endParaRPr lang="en-US" sz="650" dirty="0"/>
          </a:p>
        </p:txBody>
      </p:sp>
      <p:sp>
        <p:nvSpPr>
          <p:cNvPr id="48" name="Shape 46"/>
          <p:cNvSpPr/>
          <p:nvPr/>
        </p:nvSpPr>
        <p:spPr>
          <a:xfrm>
            <a:off x="8912597" y="1902420"/>
            <a:ext cx="2653539" cy="493316"/>
          </a:xfrm>
          <a:prstGeom prst="roundRect">
            <a:avLst>
              <a:gd name="adj" fmla="val 7513"/>
            </a:avLst>
          </a:prstGeom>
          <a:solidFill>
            <a:srgbClr val="F9D2D6"/>
          </a:solidFill>
          <a:ln w="6350">
            <a:solidFill>
              <a:srgbClr val="DFB8BC"/>
            </a:solidFill>
            <a:prstDash val="solid"/>
          </a:ln>
        </p:spPr>
      </p:sp>
      <p:sp>
        <p:nvSpPr>
          <p:cNvPr id="49" name="Text 47"/>
          <p:cNvSpPr/>
          <p:nvPr/>
        </p:nvSpPr>
        <p:spPr>
          <a:xfrm>
            <a:off x="9007150" y="1996976"/>
            <a:ext cx="2464433"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Frontend</a:t>
            </a:r>
            <a:endParaRPr lang="en-US" sz="900" dirty="0"/>
          </a:p>
        </p:txBody>
      </p:sp>
      <p:sp>
        <p:nvSpPr>
          <p:cNvPr id="50" name="Text 48"/>
          <p:cNvSpPr/>
          <p:nvPr/>
        </p:nvSpPr>
        <p:spPr>
          <a:xfrm>
            <a:off x="9007150" y="2191246"/>
            <a:ext cx="2464433" cy="109934"/>
          </a:xfrm>
          <a:prstGeom prst="rect">
            <a:avLst/>
          </a:prstGeom>
          <a:noFill/>
          <a:ln/>
        </p:spPr>
        <p:txBody>
          <a:bodyPr wrap="none" lIns="0" tIns="0" rIns="0" bIns="0" rtlCol="0" anchor="t"/>
          <a:lstStyle/>
          <a:p>
            <a:pPr marL="0" indent="0" algn="l">
              <a:lnSpc>
                <a:spcPct val="104000"/>
              </a:lnSpc>
              <a:buNone/>
            </a:pPr>
            <a:r>
              <a:rPr lang="en-US" sz="650" dirty="0">
                <a:solidFill>
                  <a:srgbClr val="3B3535"/>
                </a:solidFill>
                <a:latin typeface="Sora Light" pitchFamily="34" charset="0"/>
                <a:ea typeface="Sora Light" pitchFamily="34" charset="-122"/>
                <a:cs typeface="Sora Light" pitchFamily="34" charset="-120"/>
              </a:rPr>
              <a:t>React • Tailwind CSS • REST / JSON</a:t>
            </a:r>
            <a:endParaRPr lang="en-US" sz="650" dirty="0"/>
          </a:p>
        </p:txBody>
      </p:sp>
      <p:sp>
        <p:nvSpPr>
          <p:cNvPr id="51" name="Shape 49"/>
          <p:cNvSpPr/>
          <p:nvPr/>
        </p:nvSpPr>
        <p:spPr>
          <a:xfrm>
            <a:off x="6234453" y="2444948"/>
            <a:ext cx="2628934" cy="493316"/>
          </a:xfrm>
          <a:prstGeom prst="roundRect">
            <a:avLst>
              <a:gd name="adj" fmla="val 7513"/>
            </a:avLst>
          </a:prstGeom>
          <a:solidFill>
            <a:srgbClr val="F9D2D6"/>
          </a:solidFill>
          <a:ln w="6350">
            <a:solidFill>
              <a:srgbClr val="DFB8BC"/>
            </a:solidFill>
            <a:prstDash val="solid"/>
          </a:ln>
        </p:spPr>
      </p:sp>
      <p:sp>
        <p:nvSpPr>
          <p:cNvPr id="52" name="Text 50"/>
          <p:cNvSpPr/>
          <p:nvPr/>
        </p:nvSpPr>
        <p:spPr>
          <a:xfrm>
            <a:off x="6304400" y="2539504"/>
            <a:ext cx="5167183" cy="145058"/>
          </a:xfrm>
          <a:prstGeom prst="rect">
            <a:avLst/>
          </a:prstGeom>
          <a:noFill/>
          <a:ln/>
        </p:spPr>
        <p:txBody>
          <a:bodyPr wrap="none" lIns="0" tIns="0" rIns="0" bIns="0" rtlCol="0" anchor="t"/>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Runtime</a:t>
            </a:r>
            <a:endParaRPr lang="en-US" sz="900" dirty="0"/>
          </a:p>
        </p:txBody>
      </p:sp>
      <p:sp>
        <p:nvSpPr>
          <p:cNvPr id="53" name="Text 51"/>
          <p:cNvSpPr/>
          <p:nvPr/>
        </p:nvSpPr>
        <p:spPr>
          <a:xfrm>
            <a:off x="6304400" y="2733774"/>
            <a:ext cx="5167183" cy="109934"/>
          </a:xfrm>
          <a:prstGeom prst="rect">
            <a:avLst/>
          </a:prstGeom>
          <a:noFill/>
          <a:ln/>
        </p:spPr>
        <p:txBody>
          <a:bodyPr wrap="none" lIns="0" tIns="0" rIns="0" bIns="0" rtlCol="0" anchor="t"/>
          <a:lstStyle/>
          <a:p>
            <a:pPr marL="0" indent="0" algn="l">
              <a:lnSpc>
                <a:spcPct val="100000"/>
              </a:lnSpc>
              <a:buNone/>
            </a:pPr>
            <a:r>
              <a:rPr lang="en-US" sz="650" dirty="0">
                <a:solidFill>
                  <a:srgbClr val="3B3535"/>
                </a:solidFill>
                <a:latin typeface="Sora Light" pitchFamily="34" charset="0"/>
                <a:ea typeface="Sora Light" pitchFamily="34" charset="-122"/>
                <a:cs typeface="Sora Light" pitchFamily="34" charset="-120"/>
              </a:rPr>
              <a:t>Apache Tomcat 11 • Linux / Ubuntu</a:t>
            </a:r>
            <a:endParaRPr lang="en-US" sz="650" dirty="0"/>
          </a:p>
        </p:txBody>
      </p:sp>
      <p:pic>
        <p:nvPicPr>
          <p:cNvPr id="55" name="Picture 54">
            <a:extLst>
              <a:ext uri="{FF2B5EF4-FFF2-40B4-BE49-F238E27FC236}">
                <a16:creationId xmlns:a16="http://schemas.microsoft.com/office/drawing/2014/main" id="{20C527C5-6C92-8374-C565-0BD54AE1CC4C}"/>
              </a:ext>
            </a:extLst>
          </p:cNvPr>
          <p:cNvPicPr>
            <a:picLocks noChangeAspect="1"/>
          </p:cNvPicPr>
          <p:nvPr/>
        </p:nvPicPr>
        <p:blipFill>
          <a:blip r:embed="rId4"/>
          <a:stretch>
            <a:fillRect/>
          </a:stretch>
        </p:blipFill>
        <p:spPr>
          <a:xfrm>
            <a:off x="10458923" y="6572048"/>
            <a:ext cx="1733078" cy="221441"/>
          </a:xfrm>
          <a:prstGeom prst="rect">
            <a:avLst/>
          </a:prstGeom>
        </p:spPr>
      </p:pic>
      <p:sp>
        <p:nvSpPr>
          <p:cNvPr id="56" name="Text 54">
            <a:extLst>
              <a:ext uri="{FF2B5EF4-FFF2-40B4-BE49-F238E27FC236}">
                <a16:creationId xmlns:a16="http://schemas.microsoft.com/office/drawing/2014/main" id="{08607F21-383B-D4F3-017B-33EC04745F27}"/>
              </a:ext>
            </a:extLst>
          </p:cNvPr>
          <p:cNvSpPr/>
          <p:nvPr/>
        </p:nvSpPr>
        <p:spPr>
          <a:xfrm>
            <a:off x="8682264" y="4398269"/>
            <a:ext cx="713979" cy="620815"/>
          </a:xfrm>
          <a:prstGeom prst="rect">
            <a:avLst/>
          </a:prstGeom>
          <a:noFill/>
          <a:ln/>
        </p:spPr>
        <p:txBody>
          <a:bodyPr wrap="square" lIns="0" tIns="0" rIns="0" bIns="0" rtlCol="0" anchor="t">
            <a:normAutofit fontScale="92500" lnSpcReduction="20000"/>
          </a:bodyPr>
          <a:lstStyle/>
          <a:p>
            <a:pPr marL="0" indent="0" algn="ctr">
              <a:lnSpc>
                <a:spcPct val="104000"/>
              </a:lnSpc>
              <a:buNone/>
            </a:pPr>
            <a:r>
              <a:rPr lang="en-US" sz="1300" dirty="0">
                <a:solidFill>
                  <a:srgbClr val="FFFFFF"/>
                </a:solidFill>
                <a:latin typeface="Sora SemiBold" pitchFamily="34" charset="0"/>
                <a:ea typeface="Sora SemiBold" pitchFamily="34" charset="-122"/>
                <a:cs typeface="Sora SemiBold" pitchFamily="34" charset="-120"/>
              </a:rPr>
              <a:t>AI/RCA Engine Architecture</a:t>
            </a:r>
            <a:endParaRPr lang="en-US" sz="1300" dirty="0"/>
          </a:p>
        </p:txBody>
      </p:sp>
      <p:sp>
        <p:nvSpPr>
          <p:cNvPr id="59" name="Text 55">
            <a:extLst>
              <a:ext uri="{FF2B5EF4-FFF2-40B4-BE49-F238E27FC236}">
                <a16:creationId xmlns:a16="http://schemas.microsoft.com/office/drawing/2014/main" id="{DE2DA1A4-B6EA-4A4D-AD55-1AF2A427F0BF}"/>
              </a:ext>
            </a:extLst>
          </p:cNvPr>
          <p:cNvSpPr/>
          <p:nvPr/>
        </p:nvSpPr>
        <p:spPr>
          <a:xfrm>
            <a:off x="9603936" y="3290686"/>
            <a:ext cx="1062171" cy="155204"/>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AI/RCA Engine</a:t>
            </a:r>
            <a:endParaRPr lang="en-US" sz="1300" dirty="0"/>
          </a:p>
        </p:txBody>
      </p:sp>
      <p:sp>
        <p:nvSpPr>
          <p:cNvPr id="61" name="Text 56">
            <a:extLst>
              <a:ext uri="{FF2B5EF4-FFF2-40B4-BE49-F238E27FC236}">
                <a16:creationId xmlns:a16="http://schemas.microsoft.com/office/drawing/2014/main" id="{B493B6CC-3632-2FBE-8F6D-FF83F897349A}"/>
              </a:ext>
            </a:extLst>
          </p:cNvPr>
          <p:cNvSpPr/>
          <p:nvPr/>
        </p:nvSpPr>
        <p:spPr>
          <a:xfrm>
            <a:off x="9548853" y="3650476"/>
            <a:ext cx="1062171"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Central decision engine</a:t>
            </a:r>
            <a:endParaRPr lang="en-US" sz="1000" dirty="0"/>
          </a:p>
        </p:txBody>
      </p:sp>
      <p:sp>
        <p:nvSpPr>
          <p:cNvPr id="63" name="Text 57">
            <a:extLst>
              <a:ext uri="{FF2B5EF4-FFF2-40B4-BE49-F238E27FC236}">
                <a16:creationId xmlns:a16="http://schemas.microsoft.com/office/drawing/2014/main" id="{183AF81D-7880-109B-B2B2-C0243C7E2450}"/>
              </a:ext>
            </a:extLst>
          </p:cNvPr>
          <p:cNvSpPr/>
          <p:nvPr/>
        </p:nvSpPr>
        <p:spPr>
          <a:xfrm>
            <a:off x="7417046" y="3314969"/>
            <a:ext cx="1062170" cy="155204"/>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Final Outputs</a:t>
            </a:r>
            <a:endParaRPr lang="en-US" sz="1300" dirty="0"/>
          </a:p>
        </p:txBody>
      </p:sp>
      <p:sp>
        <p:nvSpPr>
          <p:cNvPr id="65" name="Text 58">
            <a:extLst>
              <a:ext uri="{FF2B5EF4-FFF2-40B4-BE49-F238E27FC236}">
                <a16:creationId xmlns:a16="http://schemas.microsoft.com/office/drawing/2014/main" id="{48329EC7-4B3B-AE04-8C13-9888C65777DC}"/>
              </a:ext>
            </a:extLst>
          </p:cNvPr>
          <p:cNvSpPr/>
          <p:nvPr/>
        </p:nvSpPr>
        <p:spPr>
          <a:xfrm>
            <a:off x="7428656" y="3686545"/>
            <a:ext cx="1062170"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RCA, explanation, recommendation</a:t>
            </a:r>
            <a:endParaRPr lang="en-US" sz="1000" dirty="0"/>
          </a:p>
        </p:txBody>
      </p:sp>
      <p:sp>
        <p:nvSpPr>
          <p:cNvPr id="67" name="Text 59">
            <a:extLst>
              <a:ext uri="{FF2B5EF4-FFF2-40B4-BE49-F238E27FC236}">
                <a16:creationId xmlns:a16="http://schemas.microsoft.com/office/drawing/2014/main" id="{552894A8-5918-0230-1FBA-C3E8573DAE84}"/>
              </a:ext>
            </a:extLst>
          </p:cNvPr>
          <p:cNvSpPr/>
          <p:nvPr/>
        </p:nvSpPr>
        <p:spPr>
          <a:xfrm>
            <a:off x="7339648" y="5571082"/>
            <a:ext cx="1062170" cy="310407"/>
          </a:xfrm>
          <a:prstGeom prst="rect">
            <a:avLst/>
          </a:prstGeom>
          <a:noFill/>
          <a:ln/>
        </p:spPr>
        <p:txBody>
          <a:bodyPr wrap="square" lIns="0" tIns="0" rIns="0" bIns="0" rtlCol="0" anchor="t">
            <a:normAutofit fontScale="85000" lnSpcReduction="20000"/>
          </a:bodyPr>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Cloud AI (LLM API)</a:t>
            </a:r>
            <a:endParaRPr lang="en-US" sz="1300" dirty="0"/>
          </a:p>
        </p:txBody>
      </p:sp>
      <p:sp>
        <p:nvSpPr>
          <p:cNvPr id="69" name="Text 60">
            <a:extLst>
              <a:ext uri="{FF2B5EF4-FFF2-40B4-BE49-F238E27FC236}">
                <a16:creationId xmlns:a16="http://schemas.microsoft.com/office/drawing/2014/main" id="{4C78501A-001D-28BA-5A6C-ADE501BB295F}"/>
              </a:ext>
            </a:extLst>
          </p:cNvPr>
          <p:cNvSpPr/>
          <p:nvPr/>
        </p:nvSpPr>
        <p:spPr>
          <a:xfrm>
            <a:off x="7447777" y="6016576"/>
            <a:ext cx="1062170"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External API with key</a:t>
            </a:r>
            <a:endParaRPr lang="en-US" sz="1000" dirty="0"/>
          </a:p>
        </p:txBody>
      </p:sp>
      <p:sp>
        <p:nvSpPr>
          <p:cNvPr id="71" name="Text 61">
            <a:extLst>
              <a:ext uri="{FF2B5EF4-FFF2-40B4-BE49-F238E27FC236}">
                <a16:creationId xmlns:a16="http://schemas.microsoft.com/office/drawing/2014/main" id="{B711C115-F466-BCD1-E4E7-077D8BA00E02}"/>
              </a:ext>
            </a:extLst>
          </p:cNvPr>
          <p:cNvSpPr/>
          <p:nvPr/>
        </p:nvSpPr>
        <p:spPr>
          <a:xfrm>
            <a:off x="9537243" y="5591830"/>
            <a:ext cx="1062171" cy="310407"/>
          </a:xfrm>
          <a:prstGeom prst="rect">
            <a:avLst/>
          </a:prstGeom>
          <a:noFill/>
          <a:ln/>
        </p:spPr>
        <p:txBody>
          <a:bodyPr wrap="square" lIns="0" tIns="0" rIns="0" bIns="0" rtlCol="0" anchor="t">
            <a:normAutofit fontScale="85000" lnSpcReduction="20000"/>
          </a:bodyPr>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Local AI (Ollama)</a:t>
            </a:r>
            <a:endParaRPr lang="en-US" sz="1300" dirty="0"/>
          </a:p>
        </p:txBody>
      </p:sp>
      <p:sp>
        <p:nvSpPr>
          <p:cNvPr id="73" name="Text 62">
            <a:extLst>
              <a:ext uri="{FF2B5EF4-FFF2-40B4-BE49-F238E27FC236}">
                <a16:creationId xmlns:a16="http://schemas.microsoft.com/office/drawing/2014/main" id="{73DEBB1E-1C63-04B3-DD72-6CCC43F5242E}"/>
              </a:ext>
            </a:extLst>
          </p:cNvPr>
          <p:cNvSpPr/>
          <p:nvPr/>
        </p:nvSpPr>
        <p:spPr>
          <a:xfrm>
            <a:off x="9548852" y="6016576"/>
            <a:ext cx="1062171"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On-premise local model</a:t>
            </a:r>
            <a:endParaRPr lang="en-US" sz="1000" dirty="0"/>
          </a:p>
        </p:txBody>
      </p:sp>
      <p:sp>
        <p:nvSpPr>
          <p:cNvPr id="75" name="Text 63">
            <a:extLst>
              <a:ext uri="{FF2B5EF4-FFF2-40B4-BE49-F238E27FC236}">
                <a16:creationId xmlns:a16="http://schemas.microsoft.com/office/drawing/2014/main" id="{11C0CBD5-1F84-9B77-FED4-F0B4CBC3175F}"/>
              </a:ext>
            </a:extLst>
          </p:cNvPr>
          <p:cNvSpPr/>
          <p:nvPr/>
        </p:nvSpPr>
        <p:spPr>
          <a:xfrm>
            <a:off x="9986893" y="4407246"/>
            <a:ext cx="1085390" cy="310407"/>
          </a:xfrm>
          <a:prstGeom prst="rect">
            <a:avLst/>
          </a:prstGeom>
          <a:noFill/>
          <a:ln/>
        </p:spPr>
        <p:txBody>
          <a:bodyPr wrap="square" lIns="0" tIns="0" rIns="0" bIns="0" rtlCol="0" anchor="t">
            <a:normAutofit fontScale="85000" lnSpcReduction="20000"/>
          </a:bodyPr>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AI Provider Abstraction</a:t>
            </a:r>
            <a:endParaRPr lang="en-US" sz="1300" dirty="0"/>
          </a:p>
        </p:txBody>
      </p:sp>
      <p:sp>
        <p:nvSpPr>
          <p:cNvPr id="77" name="Text 64">
            <a:extLst>
              <a:ext uri="{FF2B5EF4-FFF2-40B4-BE49-F238E27FC236}">
                <a16:creationId xmlns:a16="http://schemas.microsoft.com/office/drawing/2014/main" id="{24BFB941-D3D8-7F07-2D03-DEFE5A074FCD}"/>
              </a:ext>
            </a:extLst>
          </p:cNvPr>
          <p:cNvSpPr/>
          <p:nvPr/>
        </p:nvSpPr>
        <p:spPr>
          <a:xfrm>
            <a:off x="9999197" y="4825706"/>
            <a:ext cx="1085390"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Unified interface layer</a:t>
            </a:r>
            <a:endParaRPr lang="en-US" sz="1000" dirty="0"/>
          </a:p>
        </p:txBody>
      </p:sp>
      <p:sp>
        <p:nvSpPr>
          <p:cNvPr id="79" name="Text 65">
            <a:extLst>
              <a:ext uri="{FF2B5EF4-FFF2-40B4-BE49-F238E27FC236}">
                <a16:creationId xmlns:a16="http://schemas.microsoft.com/office/drawing/2014/main" id="{C5783FA1-4835-43CF-5826-42D68C872C9E}"/>
              </a:ext>
            </a:extLst>
          </p:cNvPr>
          <p:cNvSpPr/>
          <p:nvPr/>
        </p:nvSpPr>
        <p:spPr>
          <a:xfrm>
            <a:off x="6993921" y="4429913"/>
            <a:ext cx="1085389" cy="155204"/>
          </a:xfrm>
          <a:prstGeom prst="rect">
            <a:avLst/>
          </a:prstGeom>
          <a:noFill/>
          <a:ln/>
        </p:spPr>
        <p:txBody>
          <a:bodyPr wrap="none" lIns="0" tIns="0" rIns="0" bIns="0" rtlCol="0" anchor="t"/>
          <a:lstStyle/>
          <a:p>
            <a:pPr marL="0" indent="0" algn="ctr">
              <a:lnSpc>
                <a:spcPct val="104000"/>
              </a:lnSpc>
              <a:buNone/>
            </a:pPr>
            <a:r>
              <a:rPr lang="en-US" sz="1300" dirty="0">
                <a:solidFill>
                  <a:srgbClr val="3B3535"/>
                </a:solidFill>
                <a:latin typeface="Sora SemiBold" pitchFamily="34" charset="0"/>
                <a:ea typeface="Sora SemiBold" pitchFamily="34" charset="-122"/>
                <a:cs typeface="Sora SemiBold" pitchFamily="34" charset="-120"/>
              </a:rPr>
              <a:t>AI Analysis</a:t>
            </a:r>
            <a:endParaRPr lang="en-US" sz="1300" dirty="0"/>
          </a:p>
        </p:txBody>
      </p:sp>
      <p:sp>
        <p:nvSpPr>
          <p:cNvPr id="81" name="Text 66">
            <a:extLst>
              <a:ext uri="{FF2B5EF4-FFF2-40B4-BE49-F238E27FC236}">
                <a16:creationId xmlns:a16="http://schemas.microsoft.com/office/drawing/2014/main" id="{8F34F3B9-4A1E-48ED-94C7-1F8D3AEB78FA}"/>
              </a:ext>
            </a:extLst>
          </p:cNvPr>
          <p:cNvSpPr/>
          <p:nvPr/>
        </p:nvSpPr>
        <p:spPr>
          <a:xfrm>
            <a:off x="7006225" y="4780191"/>
            <a:ext cx="1085389" cy="156268"/>
          </a:xfrm>
          <a:prstGeom prst="rect">
            <a:avLst/>
          </a:prstGeom>
          <a:noFill/>
          <a:ln/>
        </p:spPr>
        <p:txBody>
          <a:bodyPr wrap="square" lIns="0" tIns="0" rIns="0" bIns="0" rtlCol="0" anchor="t">
            <a:normAutofit fontScale="92500" lnSpcReduction="20000"/>
          </a:bodyPr>
          <a:lstStyle/>
          <a:p>
            <a:pPr marL="0" indent="0" algn="ctr">
              <a:lnSpc>
                <a:spcPct val="69000"/>
              </a:lnSpc>
              <a:buNone/>
            </a:pPr>
            <a:r>
              <a:rPr lang="en-US" sz="1000" dirty="0">
                <a:solidFill>
                  <a:srgbClr val="3B3535"/>
                </a:solidFill>
                <a:latin typeface="Sora Light" pitchFamily="34" charset="0"/>
                <a:ea typeface="Sora Light" pitchFamily="34" charset="-122"/>
                <a:cs typeface="Sora Light" pitchFamily="34" charset="-120"/>
              </a:rPr>
              <a:t>Correlation and inference</a:t>
            </a:r>
            <a:endParaRPr lang="en-US" sz="1000" dirty="0"/>
          </a:p>
        </p:txBody>
      </p:sp>
      <p:pic>
        <p:nvPicPr>
          <p:cNvPr id="83" name="Image 1" descr="preencoded.png">
            <a:extLst>
              <a:ext uri="{FF2B5EF4-FFF2-40B4-BE49-F238E27FC236}">
                <a16:creationId xmlns:a16="http://schemas.microsoft.com/office/drawing/2014/main" id="{2D9F5195-88CE-3092-B04A-98CA0BC4ACB0}"/>
              </a:ext>
            </a:extLst>
          </p:cNvPr>
          <p:cNvPicPr>
            <a:picLocks noChangeAspect="1"/>
          </p:cNvPicPr>
          <p:nvPr/>
        </p:nvPicPr>
        <p:blipFill>
          <a:blip r:embed="rId5"/>
          <a:stretch>
            <a:fillRect/>
          </a:stretch>
        </p:blipFill>
        <p:spPr>
          <a:xfrm>
            <a:off x="3619443" y="6828217"/>
            <a:ext cx="64094" cy="51296"/>
          </a:xfrm>
          <a:prstGeom prst="rect">
            <a:avLst/>
          </a:prstGeom>
        </p:spPr>
      </p:pic>
      <p:sp>
        <p:nvSpPr>
          <p:cNvPr id="88" name="Shape 49">
            <a:extLst>
              <a:ext uri="{FF2B5EF4-FFF2-40B4-BE49-F238E27FC236}">
                <a16:creationId xmlns:a16="http://schemas.microsoft.com/office/drawing/2014/main" id="{E25546D6-41D4-1396-758D-1DAADD2F13DB}"/>
              </a:ext>
            </a:extLst>
          </p:cNvPr>
          <p:cNvSpPr/>
          <p:nvPr/>
        </p:nvSpPr>
        <p:spPr>
          <a:xfrm>
            <a:off x="8912596" y="2437904"/>
            <a:ext cx="2653539" cy="493316"/>
          </a:xfrm>
          <a:prstGeom prst="roundRect">
            <a:avLst>
              <a:gd name="adj" fmla="val 7513"/>
            </a:avLst>
          </a:prstGeom>
          <a:solidFill>
            <a:srgbClr val="F9D2D6"/>
          </a:solidFill>
          <a:ln w="6350">
            <a:solidFill>
              <a:srgbClr val="DFB8BC"/>
            </a:solidFill>
            <a:prstDash val="solid"/>
          </a:ln>
        </p:spPr>
      </p:sp>
      <p:sp>
        <p:nvSpPr>
          <p:cNvPr id="92" name="TextBox 91">
            <a:extLst>
              <a:ext uri="{FF2B5EF4-FFF2-40B4-BE49-F238E27FC236}">
                <a16:creationId xmlns:a16="http://schemas.microsoft.com/office/drawing/2014/main" id="{63F8BB98-B901-66C5-DBEB-2D11BD322D57}"/>
              </a:ext>
            </a:extLst>
          </p:cNvPr>
          <p:cNvSpPr txBox="1"/>
          <p:nvPr/>
        </p:nvSpPr>
        <p:spPr>
          <a:xfrm>
            <a:off x="8863386" y="2501851"/>
            <a:ext cx="6097554" cy="231923"/>
          </a:xfrm>
          <a:prstGeom prst="rect">
            <a:avLst/>
          </a:prstGeom>
          <a:noFill/>
        </p:spPr>
        <p:txBody>
          <a:bodyPr wrap="square">
            <a:spAutoFit/>
          </a:bodyPr>
          <a:lstStyle/>
          <a:p>
            <a:pPr marL="0" indent="0" algn="l">
              <a:lnSpc>
                <a:spcPct val="104000"/>
              </a:lnSpc>
              <a:buNone/>
            </a:pPr>
            <a:r>
              <a:rPr lang="en-US" sz="900" dirty="0">
                <a:solidFill>
                  <a:srgbClr val="3B3535"/>
                </a:solidFill>
                <a:latin typeface="Sora SemiBold" pitchFamily="34" charset="0"/>
                <a:ea typeface="Sora SemiBold" pitchFamily="34" charset="-122"/>
                <a:cs typeface="Sora SemiBold" pitchFamily="34" charset="-120"/>
              </a:rPr>
              <a:t>AI Local/ Provider Layer</a:t>
            </a:r>
            <a:endParaRPr lang="en-US" sz="900" dirty="0"/>
          </a:p>
        </p:txBody>
      </p:sp>
      <p:sp>
        <p:nvSpPr>
          <p:cNvPr id="94" name="TextBox 93">
            <a:extLst>
              <a:ext uri="{FF2B5EF4-FFF2-40B4-BE49-F238E27FC236}">
                <a16:creationId xmlns:a16="http://schemas.microsoft.com/office/drawing/2014/main" id="{AF38BEB1-93F9-DA4B-97DB-4142FF8040DD}"/>
              </a:ext>
            </a:extLst>
          </p:cNvPr>
          <p:cNvSpPr txBox="1"/>
          <p:nvPr/>
        </p:nvSpPr>
        <p:spPr>
          <a:xfrm>
            <a:off x="8863387" y="2704227"/>
            <a:ext cx="7481886" cy="192360"/>
          </a:xfrm>
          <a:prstGeom prst="rect">
            <a:avLst/>
          </a:prstGeom>
          <a:noFill/>
        </p:spPr>
        <p:txBody>
          <a:bodyPr wrap="square">
            <a:spAutoFit/>
          </a:bodyPr>
          <a:lstStyle/>
          <a:p>
            <a:r>
              <a:rPr lang="en-US" sz="650" dirty="0" err="1">
                <a:solidFill>
                  <a:srgbClr val="3B3535"/>
                </a:solidFill>
                <a:latin typeface="Sora Light" pitchFamily="34" charset="0"/>
                <a:ea typeface="Sora Light" pitchFamily="34" charset="-122"/>
                <a:cs typeface="Sora Light" pitchFamily="34" charset="-120"/>
              </a:rPr>
              <a:t>Ollama</a:t>
            </a:r>
            <a:r>
              <a:rPr lang="en-US" sz="650" dirty="0">
                <a:solidFill>
                  <a:srgbClr val="3B3535"/>
                </a:solidFill>
                <a:latin typeface="Sora Light" pitchFamily="34" charset="0"/>
                <a:ea typeface="Sora Light" pitchFamily="34" charset="-122"/>
                <a:cs typeface="Sora Light" pitchFamily="34" charset="-120"/>
              </a:rPr>
              <a:t> + Local LLM • External LLM API</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31908" y="525760"/>
            <a:ext cx="917949" cy="240010"/>
          </a:xfrm>
          <a:prstGeom prst="roundRect">
            <a:avLst>
              <a:gd name="adj" fmla="val 22116"/>
            </a:avLst>
          </a:prstGeom>
          <a:solidFill>
            <a:srgbClr val="F9D2D6"/>
          </a:solidFill>
          <a:ln/>
        </p:spPr>
      </p:sp>
      <p:sp>
        <p:nvSpPr>
          <p:cNvPr id="3" name="Text 1"/>
          <p:cNvSpPr/>
          <p:nvPr/>
        </p:nvSpPr>
        <p:spPr>
          <a:xfrm>
            <a:off x="726660" y="573088"/>
            <a:ext cx="1338031" cy="145355"/>
          </a:xfrm>
          <a:prstGeom prst="rect">
            <a:avLst/>
          </a:prstGeom>
          <a:noFill/>
          <a:ln/>
        </p:spPr>
        <p:txBody>
          <a:bodyPr wrap="none" lIns="0" tIns="0" rIns="0" bIns="0" rtlCol="0" anchor="t"/>
          <a:lstStyle/>
          <a:p>
            <a:pPr marL="0" indent="0" algn="l">
              <a:lnSpc>
                <a:spcPct val="96000"/>
              </a:lnSpc>
              <a:buNone/>
            </a:pPr>
            <a:r>
              <a:rPr lang="en-US" sz="950" dirty="0">
                <a:solidFill>
                  <a:srgbClr val="3B3535"/>
                </a:solidFill>
                <a:latin typeface="Sora Light" pitchFamily="34" charset="0"/>
                <a:ea typeface="Sora Light" pitchFamily="34" charset="-122"/>
                <a:cs typeface="Sora Light" pitchFamily="34" charset="-120"/>
              </a:rPr>
              <a:t>FRONTEND</a:t>
            </a:r>
            <a:endParaRPr lang="en-US" sz="950" dirty="0"/>
          </a:p>
        </p:txBody>
      </p:sp>
      <p:sp>
        <p:nvSpPr>
          <p:cNvPr id="4" name="Text 2"/>
          <p:cNvSpPr/>
          <p:nvPr/>
        </p:nvSpPr>
        <p:spPr>
          <a:xfrm>
            <a:off x="631908" y="828873"/>
            <a:ext cx="10927878" cy="519609"/>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WIPRO NMS — Implementation I</a:t>
            </a:r>
            <a:endParaRPr lang="en-US" sz="3250" dirty="0"/>
          </a:p>
        </p:txBody>
      </p:sp>
      <p:sp>
        <p:nvSpPr>
          <p:cNvPr id="5" name="Text 3"/>
          <p:cNvSpPr/>
          <p:nvPr/>
        </p:nvSpPr>
        <p:spPr>
          <a:xfrm>
            <a:off x="631908" y="1411585"/>
            <a:ext cx="10927878" cy="259755"/>
          </a:xfrm>
          <a:prstGeom prst="rect">
            <a:avLst/>
          </a:prstGeom>
          <a:noFill/>
          <a:ln/>
        </p:spPr>
        <p:txBody>
          <a:bodyPr wrap="none" lIns="0" tIns="0" rIns="0" bIns="0" rtlCol="0" anchor="t"/>
          <a:lstStyle/>
          <a:p>
            <a:pPr marL="0" indent="0" algn="l">
              <a:lnSpc>
                <a:spcPct val="104000"/>
              </a:lnSpc>
              <a:buNone/>
            </a:pPr>
            <a:r>
              <a:rPr lang="en-US" sz="1600" dirty="0">
                <a:solidFill>
                  <a:srgbClr val="1F1E1E"/>
                </a:solidFill>
                <a:latin typeface="Sora SemiBold" pitchFamily="34" charset="0"/>
                <a:ea typeface="Sora SemiBold" pitchFamily="34" charset="-122"/>
                <a:cs typeface="Sora SemiBold" pitchFamily="34" charset="-120"/>
              </a:rPr>
              <a:t>Web-Based Network Monitoring Interface</a:t>
            </a:r>
            <a:endParaRPr lang="en-US" sz="1600" dirty="0"/>
          </a:p>
        </p:txBody>
      </p:sp>
      <p:sp>
        <p:nvSpPr>
          <p:cNvPr id="6" name="Text 4"/>
          <p:cNvSpPr/>
          <p:nvPr/>
        </p:nvSpPr>
        <p:spPr>
          <a:xfrm>
            <a:off x="631908" y="1824237"/>
            <a:ext cx="10927878"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The React frontend consumes REST APIs exposed by the Spring Boot backend and presents processed network information through a unified monitoring dashboard. The interface provides centralized views of network status, device and interface management, and telemetry and alarm monitoring.</a:t>
            </a:r>
            <a:endParaRPr lang="en-US" sz="1200" dirty="0"/>
          </a:p>
        </p:txBody>
      </p:sp>
      <p:sp>
        <p:nvSpPr>
          <p:cNvPr id="7" name="Text 5"/>
          <p:cNvSpPr/>
          <p:nvPr/>
        </p:nvSpPr>
        <p:spPr>
          <a:xfrm>
            <a:off x="631908" y="3002062"/>
            <a:ext cx="5271261" cy="519509"/>
          </a:xfrm>
          <a:prstGeom prst="rect">
            <a:avLst/>
          </a:prstGeom>
          <a:noFill/>
          <a:ln/>
        </p:spPr>
        <p:txBody>
          <a:bodyPr wrap="square" lIns="0" tIns="0" rIns="0" bIns="0" rtlCol="0" anchor="t">
            <a:normAutofit/>
          </a:bodyPr>
          <a:lstStyle/>
          <a:p>
            <a:pPr marL="0" indent="0" algn="l">
              <a:lnSpc>
                <a:spcPct val="104000"/>
              </a:lnSpc>
              <a:buNone/>
            </a:pPr>
            <a:endParaRPr lang="en-US" sz="1600" dirty="0"/>
          </a:p>
        </p:txBody>
      </p:sp>
      <p:sp>
        <p:nvSpPr>
          <p:cNvPr id="8" name="Text 6"/>
          <p:cNvSpPr/>
          <p:nvPr/>
        </p:nvSpPr>
        <p:spPr>
          <a:xfrm>
            <a:off x="726660" y="5014114"/>
            <a:ext cx="5271261" cy="505420"/>
          </a:xfrm>
          <a:prstGeom prst="rect">
            <a:avLst/>
          </a:prstGeom>
          <a:noFill/>
          <a:ln/>
        </p:spPr>
        <p:txBody>
          <a:bodyPr wrap="square" lIns="0" tIns="0" rIns="0" bIns="0" rtlCol="0" anchor="t">
            <a:normAutofit/>
          </a:bodyPr>
          <a:lstStyle/>
          <a:p>
            <a:pPr marL="0" indent="0" algn="l">
              <a:lnSpc>
                <a:spcPct val="133000"/>
              </a:lnSpc>
              <a:buNone/>
            </a:pPr>
            <a:r>
              <a:rPr lang="en-US" sz="1200" b="1" dirty="0">
                <a:solidFill>
                  <a:srgbClr val="3B3535"/>
                </a:solidFill>
                <a:latin typeface="Sora Bold" pitchFamily="34" charset="0"/>
                <a:ea typeface="Sora Bold" pitchFamily="34" charset="-122"/>
                <a:cs typeface="Sora Bold" pitchFamily="34" charset="-120"/>
              </a:rPr>
              <a:t>Dashboard / Network Overview</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Centralized view of network status and monitoring information.</a:t>
            </a:r>
            <a:endParaRPr lang="en-US" sz="1200" dirty="0"/>
          </a:p>
        </p:txBody>
      </p:sp>
      <p:sp>
        <p:nvSpPr>
          <p:cNvPr id="9" name="Text 7"/>
          <p:cNvSpPr/>
          <p:nvPr/>
        </p:nvSpPr>
        <p:spPr>
          <a:xfrm>
            <a:off x="6294875" y="3002062"/>
            <a:ext cx="5271261" cy="519509"/>
          </a:xfrm>
          <a:prstGeom prst="rect">
            <a:avLst/>
          </a:prstGeom>
          <a:noFill/>
          <a:ln/>
        </p:spPr>
        <p:txBody>
          <a:bodyPr wrap="square" lIns="0" tIns="0" rIns="0" bIns="0" rtlCol="0" anchor="t">
            <a:normAutofit/>
          </a:bodyPr>
          <a:lstStyle/>
          <a:p>
            <a:pPr marL="0" indent="0" algn="l">
              <a:lnSpc>
                <a:spcPct val="104000"/>
              </a:lnSpc>
              <a:buNone/>
            </a:pPr>
            <a:endParaRPr lang="en-US" sz="1600" dirty="0"/>
          </a:p>
        </p:txBody>
      </p:sp>
      <p:sp>
        <p:nvSpPr>
          <p:cNvPr id="10" name="Text 8"/>
          <p:cNvSpPr/>
          <p:nvPr/>
        </p:nvSpPr>
        <p:spPr>
          <a:xfrm>
            <a:off x="6143223" y="5067438"/>
            <a:ext cx="5271261" cy="505420"/>
          </a:xfrm>
          <a:prstGeom prst="rect">
            <a:avLst/>
          </a:prstGeom>
          <a:noFill/>
          <a:ln/>
        </p:spPr>
        <p:txBody>
          <a:bodyPr wrap="square" lIns="0" tIns="0" rIns="0" bIns="0" rtlCol="0" anchor="t">
            <a:normAutofit/>
          </a:bodyPr>
          <a:lstStyle/>
          <a:p>
            <a:pPr marL="0" indent="0" algn="l">
              <a:lnSpc>
                <a:spcPct val="133000"/>
              </a:lnSpc>
              <a:buNone/>
            </a:pPr>
            <a:r>
              <a:rPr lang="en-US" sz="1200" b="1" dirty="0">
                <a:solidFill>
                  <a:srgbClr val="3B3535"/>
                </a:solidFill>
                <a:latin typeface="Sora Bold" pitchFamily="34" charset="0"/>
                <a:ea typeface="Sora Bold" pitchFamily="34" charset="-122"/>
                <a:cs typeface="Sora Bold" pitchFamily="34" charset="-120"/>
              </a:rPr>
              <a:t>Device and Interface Management</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View and manage registered network devices and interfaces.</a:t>
            </a:r>
            <a:endParaRPr lang="en-US" sz="1200" dirty="0"/>
          </a:p>
        </p:txBody>
      </p:sp>
      <p:sp>
        <p:nvSpPr>
          <p:cNvPr id="11" name="Text 9"/>
          <p:cNvSpPr/>
          <p:nvPr/>
        </p:nvSpPr>
        <p:spPr>
          <a:xfrm>
            <a:off x="631908" y="4564062"/>
            <a:ext cx="10927878" cy="259755"/>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12" name="Text 10"/>
          <p:cNvSpPr/>
          <p:nvPr/>
        </p:nvSpPr>
        <p:spPr>
          <a:xfrm>
            <a:off x="631908" y="5060752"/>
            <a:ext cx="10927878" cy="505420"/>
          </a:xfrm>
          <a:prstGeom prst="rect">
            <a:avLst/>
          </a:prstGeom>
          <a:noFill/>
          <a:ln/>
        </p:spPr>
        <p:txBody>
          <a:bodyPr wrap="square" lIns="0" tIns="0" rIns="0" bIns="0" rtlCol="0" anchor="t">
            <a:normAutofit/>
          </a:bodyPr>
          <a:lstStyle/>
          <a:p>
            <a:pPr marL="0" indent="0" algn="l">
              <a:lnSpc>
                <a:spcPct val="133000"/>
              </a:lnSpc>
              <a:buNone/>
            </a:pPr>
            <a:endParaRPr lang="en-US" sz="1200" dirty="0"/>
          </a:p>
        </p:txBody>
      </p:sp>
      <p:sp>
        <p:nvSpPr>
          <p:cNvPr id="13" name="Shape 11"/>
          <p:cNvSpPr/>
          <p:nvPr/>
        </p:nvSpPr>
        <p:spPr>
          <a:xfrm>
            <a:off x="631908" y="5743873"/>
            <a:ext cx="10927878" cy="588367"/>
          </a:xfrm>
          <a:prstGeom prst="roundRect">
            <a:avLst>
              <a:gd name="adj" fmla="val 11277"/>
            </a:avLst>
          </a:prstGeom>
          <a:solidFill>
            <a:srgbClr val="F9D2D6"/>
          </a:solidFill>
          <a:ln w="6350">
            <a:solidFill>
              <a:srgbClr val="DFB8BC"/>
            </a:solidFill>
            <a:prstDash val="solid"/>
          </a:ln>
        </p:spPr>
      </p:sp>
      <p:sp>
        <p:nvSpPr>
          <p:cNvPr id="14" name="Shape 12"/>
          <p:cNvSpPr/>
          <p:nvPr/>
        </p:nvSpPr>
        <p:spPr>
          <a:xfrm>
            <a:off x="638258" y="5750223"/>
            <a:ext cx="3638360" cy="575667"/>
          </a:xfrm>
          <a:custGeom>
            <a:avLst/>
            <a:gdLst/>
            <a:ahLst/>
            <a:cxnLst/>
            <a:rect l="l" t="t" r="r" b="b"/>
            <a:pathLst>
              <a:path w="3638360" h="575667">
                <a:moveTo>
                  <a:pt x="55293" y="0"/>
                </a:moveTo>
                <a:lnTo>
                  <a:pt x="3638360" y="0"/>
                </a:lnTo>
                <a:lnTo>
                  <a:pt x="3638360" y="575667"/>
                </a:lnTo>
                <a:lnTo>
                  <a:pt x="55293" y="575667"/>
                </a:lnTo>
                <a:arcTo wR="55293" hR="55294" stAng="5400000" swAng="5400000"/>
                <a:lnTo>
                  <a:pt x="0" y="55294"/>
                </a:lnTo>
                <a:arcTo wR="55293" hR="55294" stAng="10800000" swAng="5400000"/>
                <a:close/>
              </a:path>
            </a:pathLst>
          </a:custGeom>
          <a:solidFill>
            <a:srgbClr val="F9D2D6"/>
          </a:solidFill>
          <a:ln/>
        </p:spPr>
      </p:sp>
      <p:sp>
        <p:nvSpPr>
          <p:cNvPr id="15" name="Text 13"/>
          <p:cNvSpPr/>
          <p:nvPr/>
        </p:nvSpPr>
        <p:spPr>
          <a:xfrm>
            <a:off x="796211" y="5908179"/>
            <a:ext cx="3322455"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React</a:t>
            </a:r>
            <a:endParaRPr lang="en-US" sz="1600" dirty="0"/>
          </a:p>
        </p:txBody>
      </p:sp>
      <p:sp>
        <p:nvSpPr>
          <p:cNvPr id="16" name="Shape 14"/>
          <p:cNvSpPr/>
          <p:nvPr/>
        </p:nvSpPr>
        <p:spPr>
          <a:xfrm>
            <a:off x="4276618" y="5750223"/>
            <a:ext cx="3638360" cy="575667"/>
          </a:xfrm>
          <a:prstGeom prst="rect">
            <a:avLst/>
          </a:prstGeom>
          <a:solidFill>
            <a:srgbClr val="F9D2D6"/>
          </a:solidFill>
          <a:ln/>
        </p:spPr>
      </p:sp>
      <p:sp>
        <p:nvSpPr>
          <p:cNvPr id="17" name="Shape 15"/>
          <p:cNvSpPr/>
          <p:nvPr/>
        </p:nvSpPr>
        <p:spPr>
          <a:xfrm>
            <a:off x="4276618" y="5750223"/>
            <a:ext cx="19050" cy="575667"/>
          </a:xfrm>
          <a:prstGeom prst="roundRect">
            <a:avLst>
              <a:gd name="adj" fmla="val 49999"/>
            </a:avLst>
          </a:prstGeom>
          <a:solidFill>
            <a:srgbClr val="DFB8BC"/>
          </a:solidFill>
          <a:ln/>
        </p:spPr>
      </p:sp>
      <p:sp>
        <p:nvSpPr>
          <p:cNvPr id="18" name="Text 16"/>
          <p:cNvSpPr/>
          <p:nvPr/>
        </p:nvSpPr>
        <p:spPr>
          <a:xfrm>
            <a:off x="4434570" y="5908179"/>
            <a:ext cx="3322455"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Tailwind CSS</a:t>
            </a:r>
            <a:endParaRPr lang="en-US" sz="1600" dirty="0"/>
          </a:p>
        </p:txBody>
      </p:sp>
      <p:sp>
        <p:nvSpPr>
          <p:cNvPr id="19" name="Shape 17"/>
          <p:cNvSpPr/>
          <p:nvPr/>
        </p:nvSpPr>
        <p:spPr>
          <a:xfrm>
            <a:off x="7914978" y="5750223"/>
            <a:ext cx="3638360" cy="575667"/>
          </a:xfrm>
          <a:custGeom>
            <a:avLst/>
            <a:gdLst/>
            <a:ahLst/>
            <a:cxnLst/>
            <a:rect l="l" t="t" r="r" b="b"/>
            <a:pathLst>
              <a:path w="3638360" h="575667">
                <a:moveTo>
                  <a:pt x="0" y="0"/>
                </a:moveTo>
                <a:lnTo>
                  <a:pt x="3583067" y="0"/>
                </a:lnTo>
                <a:arcTo wR="55293" hR="55294" stAng="16200000" swAng="5400000"/>
                <a:lnTo>
                  <a:pt x="3638360" y="520373"/>
                </a:lnTo>
                <a:arcTo wR="55293" hR="55294" stAng="0" swAng="5400000"/>
                <a:lnTo>
                  <a:pt x="0" y="575667"/>
                </a:lnTo>
                <a:lnTo>
                  <a:pt x="0" y="0"/>
                </a:lnTo>
                <a:close/>
              </a:path>
            </a:pathLst>
          </a:custGeom>
          <a:solidFill>
            <a:srgbClr val="F9D2D6"/>
          </a:solidFill>
          <a:ln/>
        </p:spPr>
      </p:sp>
      <p:sp>
        <p:nvSpPr>
          <p:cNvPr id="20" name="Shape 18"/>
          <p:cNvSpPr/>
          <p:nvPr/>
        </p:nvSpPr>
        <p:spPr>
          <a:xfrm>
            <a:off x="7914978" y="5750223"/>
            <a:ext cx="19050" cy="575667"/>
          </a:xfrm>
          <a:prstGeom prst="roundRect">
            <a:avLst>
              <a:gd name="adj" fmla="val 49999"/>
            </a:avLst>
          </a:prstGeom>
          <a:solidFill>
            <a:srgbClr val="DFB8BC"/>
          </a:solidFill>
          <a:ln/>
        </p:spPr>
      </p:sp>
      <p:sp>
        <p:nvSpPr>
          <p:cNvPr id="21" name="Text 19"/>
          <p:cNvSpPr/>
          <p:nvPr/>
        </p:nvSpPr>
        <p:spPr>
          <a:xfrm>
            <a:off x="8072930" y="5908179"/>
            <a:ext cx="3322455"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REST API</a:t>
            </a:r>
            <a:endParaRPr lang="en-US" sz="1600" dirty="0"/>
          </a:p>
        </p:txBody>
      </p:sp>
      <p:pic>
        <p:nvPicPr>
          <p:cNvPr id="23" name="Picture 22">
            <a:extLst>
              <a:ext uri="{FF2B5EF4-FFF2-40B4-BE49-F238E27FC236}">
                <a16:creationId xmlns:a16="http://schemas.microsoft.com/office/drawing/2014/main" id="{EC889542-0D81-AECC-6AFE-8242C8A9CFF6}"/>
              </a:ext>
            </a:extLst>
          </p:cNvPr>
          <p:cNvPicPr>
            <a:picLocks noChangeAspect="1"/>
          </p:cNvPicPr>
          <p:nvPr/>
        </p:nvPicPr>
        <p:blipFill>
          <a:blip r:embed="rId3"/>
          <a:stretch>
            <a:fillRect/>
          </a:stretch>
        </p:blipFill>
        <p:spPr>
          <a:xfrm>
            <a:off x="10458923" y="6509941"/>
            <a:ext cx="1733078" cy="306149"/>
          </a:xfrm>
          <a:prstGeom prst="rect">
            <a:avLst/>
          </a:prstGeom>
        </p:spPr>
      </p:pic>
      <p:pic>
        <p:nvPicPr>
          <p:cNvPr id="27" name="Picture 26">
            <a:extLst>
              <a:ext uri="{FF2B5EF4-FFF2-40B4-BE49-F238E27FC236}">
                <a16:creationId xmlns:a16="http://schemas.microsoft.com/office/drawing/2014/main" id="{B47E5F95-7E45-4851-5DBE-85FDD7937488}"/>
              </a:ext>
            </a:extLst>
          </p:cNvPr>
          <p:cNvPicPr>
            <a:picLocks noChangeAspect="1"/>
          </p:cNvPicPr>
          <p:nvPr/>
        </p:nvPicPr>
        <p:blipFill>
          <a:blip r:embed="rId4"/>
          <a:srcRect/>
          <a:stretch/>
        </p:blipFill>
        <p:spPr>
          <a:xfrm>
            <a:off x="726660" y="2707108"/>
            <a:ext cx="4555129" cy="20698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 name="Picture 32">
            <a:extLst>
              <a:ext uri="{FF2B5EF4-FFF2-40B4-BE49-F238E27FC236}">
                <a16:creationId xmlns:a16="http://schemas.microsoft.com/office/drawing/2014/main" id="{692AB3A5-4100-73DA-021A-90E8E1D7A661}"/>
              </a:ext>
            </a:extLst>
          </p:cNvPr>
          <p:cNvPicPr>
            <a:picLocks noChangeAspect="1"/>
          </p:cNvPicPr>
          <p:nvPr/>
        </p:nvPicPr>
        <p:blipFill>
          <a:blip r:embed="rId5"/>
          <a:srcRect/>
          <a:stretch/>
        </p:blipFill>
        <p:spPr>
          <a:xfrm>
            <a:off x="6209914" y="2729049"/>
            <a:ext cx="4538773" cy="20698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31908" y="528241"/>
            <a:ext cx="748289" cy="215801"/>
          </a:xfrm>
          <a:prstGeom prst="roundRect">
            <a:avLst>
              <a:gd name="adj" fmla="val 22137"/>
            </a:avLst>
          </a:prstGeom>
          <a:solidFill>
            <a:srgbClr val="F9D2D6"/>
          </a:solidFill>
          <a:ln/>
        </p:spPr>
      </p:sp>
      <p:sp>
        <p:nvSpPr>
          <p:cNvPr id="3" name="Text 1"/>
          <p:cNvSpPr/>
          <p:nvPr/>
        </p:nvSpPr>
        <p:spPr>
          <a:xfrm>
            <a:off x="717135" y="570805"/>
            <a:ext cx="1187420" cy="130671"/>
          </a:xfrm>
          <a:prstGeom prst="rect">
            <a:avLst/>
          </a:prstGeom>
          <a:noFill/>
          <a:ln/>
        </p:spPr>
        <p:txBody>
          <a:bodyPr wrap="none" lIns="0" tIns="0" rIns="0" bIns="0" rtlCol="0" anchor="t"/>
          <a:lstStyle/>
          <a:p>
            <a:pPr marL="0" indent="0" algn="l">
              <a:lnSpc>
                <a:spcPct val="96000"/>
              </a:lnSpc>
              <a:buNone/>
            </a:pPr>
            <a:r>
              <a:rPr lang="en-US" sz="850" dirty="0">
                <a:solidFill>
                  <a:srgbClr val="3B3535"/>
                </a:solidFill>
                <a:latin typeface="Sora Light" pitchFamily="34" charset="0"/>
                <a:ea typeface="Sora Light" pitchFamily="34" charset="-122"/>
                <a:cs typeface="Sora Light" pitchFamily="34" charset="-120"/>
              </a:rPr>
              <a:t>BACKEND</a:t>
            </a:r>
            <a:endParaRPr lang="en-US" sz="850" dirty="0"/>
          </a:p>
        </p:txBody>
      </p:sp>
      <p:sp>
        <p:nvSpPr>
          <p:cNvPr id="4" name="Text 2"/>
          <p:cNvSpPr/>
          <p:nvPr/>
        </p:nvSpPr>
        <p:spPr>
          <a:xfrm>
            <a:off x="631908" y="795139"/>
            <a:ext cx="10927878" cy="467618"/>
          </a:xfrm>
          <a:prstGeom prst="rect">
            <a:avLst/>
          </a:prstGeom>
          <a:noFill/>
          <a:ln/>
        </p:spPr>
        <p:txBody>
          <a:bodyPr wrap="none" lIns="0" tIns="0" rIns="0" bIns="0" rtlCol="0" anchor="t"/>
          <a:lstStyle/>
          <a:p>
            <a:pPr marL="0" indent="0" algn="l">
              <a:lnSpc>
                <a:spcPct val="104000"/>
              </a:lnSpc>
              <a:buNone/>
            </a:pPr>
            <a:r>
              <a:rPr lang="en-US" sz="2900" dirty="0">
                <a:solidFill>
                  <a:srgbClr val="1F1E1E"/>
                </a:solidFill>
                <a:latin typeface="Sora SemiBold" pitchFamily="34" charset="0"/>
                <a:ea typeface="Sora SemiBold" pitchFamily="34" charset="-122"/>
                <a:cs typeface="Sora SemiBold" pitchFamily="34" charset="-120"/>
              </a:rPr>
              <a:t>WIPRO NMS —Implementation II</a:t>
            </a:r>
            <a:endParaRPr lang="en-US" sz="2900" dirty="0"/>
          </a:p>
        </p:txBody>
      </p:sp>
      <p:sp>
        <p:nvSpPr>
          <p:cNvPr id="5" name="Text 3"/>
          <p:cNvSpPr/>
          <p:nvPr/>
        </p:nvSpPr>
        <p:spPr>
          <a:xfrm>
            <a:off x="631908" y="1313855"/>
            <a:ext cx="10927878" cy="233859"/>
          </a:xfrm>
          <a:prstGeom prst="rect">
            <a:avLst/>
          </a:prstGeom>
          <a:noFill/>
          <a:ln/>
        </p:spPr>
        <p:txBody>
          <a:bodyPr wrap="none" lIns="0" tIns="0" rIns="0" bIns="0" rtlCol="0" anchor="t"/>
          <a:lstStyle/>
          <a:p>
            <a:pPr marL="0" indent="0" algn="l">
              <a:lnSpc>
                <a:spcPct val="104000"/>
              </a:lnSpc>
              <a:buNone/>
            </a:pPr>
            <a:r>
              <a:rPr lang="en-US" sz="1450" dirty="0">
                <a:solidFill>
                  <a:srgbClr val="1F1E1E"/>
                </a:solidFill>
                <a:latin typeface="Sora SemiBold" pitchFamily="34" charset="0"/>
                <a:ea typeface="Sora SemiBold" pitchFamily="34" charset="-122"/>
                <a:cs typeface="Sora SemiBold" pitchFamily="34" charset="-120"/>
              </a:rPr>
              <a:t>REST APIs, Telemetry Processing and Alarm Management</a:t>
            </a:r>
            <a:endParaRPr lang="en-US" sz="1450" dirty="0"/>
          </a:p>
        </p:txBody>
      </p:sp>
      <p:sp>
        <p:nvSpPr>
          <p:cNvPr id="6" name="Text 4"/>
          <p:cNvSpPr/>
          <p:nvPr/>
        </p:nvSpPr>
        <p:spPr>
          <a:xfrm>
            <a:off x="631908" y="1707988"/>
            <a:ext cx="10927878" cy="648295"/>
          </a:xfrm>
          <a:prstGeom prst="rect">
            <a:avLst/>
          </a:prstGeom>
          <a:noFill/>
          <a:ln/>
        </p:spPr>
        <p:txBody>
          <a:bodyPr wrap="square" lIns="0" tIns="0" rIns="0" bIns="0" rtlCol="0" anchor="t">
            <a:normAutofit/>
          </a:bodyPr>
          <a:lstStyle/>
          <a:p>
            <a:pPr marL="0" indent="0" algn="l">
              <a:lnSpc>
                <a:spcPct val="127000"/>
              </a:lnSpc>
              <a:buNone/>
            </a:pPr>
            <a:r>
              <a:rPr lang="en-US" sz="1100" dirty="0">
                <a:solidFill>
                  <a:srgbClr val="3B3535"/>
                </a:solidFill>
                <a:latin typeface="Sora Light" pitchFamily="34" charset="0"/>
                <a:ea typeface="Sora Light" pitchFamily="34" charset="-122"/>
                <a:cs typeface="Sora Light" pitchFamily="34" charset="-120"/>
              </a:rPr>
              <a:t>The Spring Boot backend acts as the central application layer, providing REST APIs and application services for device management, interface management, telemetry processing, and alarm management. The backend receives requests and monitoring information, applies business logic, and communicates with persistent storage.</a:t>
            </a:r>
            <a:endParaRPr lang="en-US" sz="1100" dirty="0"/>
          </a:p>
        </p:txBody>
      </p:sp>
      <p:sp>
        <p:nvSpPr>
          <p:cNvPr id="7" name="Text 5"/>
          <p:cNvSpPr/>
          <p:nvPr/>
        </p:nvSpPr>
        <p:spPr>
          <a:xfrm>
            <a:off x="631908" y="2659658"/>
            <a:ext cx="5290509" cy="233859"/>
          </a:xfrm>
          <a:prstGeom prst="rect">
            <a:avLst/>
          </a:prstGeom>
          <a:noFill/>
          <a:ln/>
        </p:spPr>
        <p:txBody>
          <a:bodyPr wrap="none" lIns="0" tIns="0" rIns="0" bIns="0" rtlCol="0" anchor="t"/>
          <a:lstStyle/>
          <a:p>
            <a:pPr marL="0" indent="0" algn="l">
              <a:lnSpc>
                <a:spcPct val="104000"/>
              </a:lnSpc>
              <a:buNone/>
            </a:pPr>
            <a:endParaRPr lang="en-US" sz="1450" dirty="0"/>
          </a:p>
        </p:txBody>
      </p:sp>
      <p:sp>
        <p:nvSpPr>
          <p:cNvPr id="8" name="Text 6"/>
          <p:cNvSpPr/>
          <p:nvPr/>
        </p:nvSpPr>
        <p:spPr>
          <a:xfrm>
            <a:off x="631908" y="3021409"/>
            <a:ext cx="5290509" cy="432197"/>
          </a:xfrm>
          <a:prstGeom prst="rect">
            <a:avLst/>
          </a:prstGeom>
          <a:noFill/>
          <a:ln/>
        </p:spPr>
        <p:txBody>
          <a:bodyPr wrap="square" lIns="0" tIns="0" rIns="0" bIns="0" rtlCol="0" anchor="t">
            <a:normAutofit/>
          </a:bodyPr>
          <a:lstStyle/>
          <a:p>
            <a:pPr marL="0" indent="0" algn="l">
              <a:lnSpc>
                <a:spcPct val="127000"/>
              </a:lnSpc>
              <a:buNone/>
            </a:pPr>
            <a:endParaRPr lang="en-US" sz="1100" dirty="0"/>
          </a:p>
        </p:txBody>
      </p:sp>
      <p:sp>
        <p:nvSpPr>
          <p:cNvPr id="9" name="Text 7"/>
          <p:cNvSpPr/>
          <p:nvPr/>
        </p:nvSpPr>
        <p:spPr>
          <a:xfrm>
            <a:off x="6275627" y="2659658"/>
            <a:ext cx="5290509" cy="233859"/>
          </a:xfrm>
          <a:prstGeom prst="rect">
            <a:avLst/>
          </a:prstGeom>
          <a:noFill/>
          <a:ln/>
        </p:spPr>
        <p:txBody>
          <a:bodyPr wrap="none" lIns="0" tIns="0" rIns="0" bIns="0" rtlCol="0" anchor="t"/>
          <a:lstStyle/>
          <a:p>
            <a:pPr marL="0" indent="0" algn="l">
              <a:lnSpc>
                <a:spcPct val="104000"/>
              </a:lnSpc>
              <a:buNone/>
            </a:pPr>
            <a:endParaRPr lang="en-US" sz="1450" dirty="0"/>
          </a:p>
        </p:txBody>
      </p:sp>
      <p:sp>
        <p:nvSpPr>
          <p:cNvPr id="10" name="Text 8"/>
          <p:cNvSpPr/>
          <p:nvPr/>
        </p:nvSpPr>
        <p:spPr>
          <a:xfrm>
            <a:off x="5743502" y="4269581"/>
            <a:ext cx="5290509" cy="432197"/>
          </a:xfrm>
          <a:prstGeom prst="rect">
            <a:avLst/>
          </a:prstGeom>
          <a:noFill/>
          <a:ln/>
        </p:spPr>
        <p:txBody>
          <a:bodyPr wrap="square" lIns="0" tIns="0" rIns="0" bIns="0" rtlCol="0" anchor="t">
            <a:normAutofit fontScale="92500"/>
          </a:bodyPr>
          <a:lstStyle/>
          <a:p>
            <a:pPr marL="0" indent="0" algn="l">
              <a:lnSpc>
                <a:spcPct val="127000"/>
              </a:lnSpc>
              <a:buNone/>
            </a:pPr>
            <a:r>
              <a:rPr lang="en-US" sz="1100" b="1" dirty="0">
                <a:solidFill>
                  <a:srgbClr val="3B3535"/>
                </a:solidFill>
                <a:latin typeface="Sora Bold" pitchFamily="34" charset="0"/>
                <a:ea typeface="Sora Bold" pitchFamily="34" charset="-122"/>
                <a:cs typeface="Sora Bold" pitchFamily="34" charset="-120"/>
              </a:rPr>
              <a:t>                                                          Telemetry Processing</a:t>
            </a:r>
            <a:endParaRPr lang="en-US" sz="1100" dirty="0"/>
          </a:p>
          <a:p>
            <a:pPr marL="0" indent="0" algn="l">
              <a:lnSpc>
                <a:spcPct val="127000"/>
              </a:lnSpc>
              <a:buNone/>
            </a:pPr>
            <a:r>
              <a:rPr lang="en-US" sz="1100" dirty="0">
                <a:solidFill>
                  <a:srgbClr val="3B3535"/>
                </a:solidFill>
                <a:latin typeface="Sora Light" pitchFamily="34" charset="0"/>
                <a:ea typeface="Sora Light" pitchFamily="34" charset="-122"/>
                <a:cs typeface="Sora Light" pitchFamily="34" charset="-120"/>
              </a:rPr>
              <a:t>          Backend processing and persistence of network monitoring information.</a:t>
            </a:r>
            <a:endParaRPr lang="en-US" sz="1100" dirty="0"/>
          </a:p>
        </p:txBody>
      </p:sp>
      <p:sp>
        <p:nvSpPr>
          <p:cNvPr id="11" name="Text 9"/>
          <p:cNvSpPr/>
          <p:nvPr/>
        </p:nvSpPr>
        <p:spPr>
          <a:xfrm>
            <a:off x="631908" y="3760589"/>
            <a:ext cx="10927878" cy="233859"/>
          </a:xfrm>
          <a:prstGeom prst="rect">
            <a:avLst/>
          </a:prstGeom>
          <a:noFill/>
          <a:ln/>
        </p:spPr>
        <p:txBody>
          <a:bodyPr wrap="none" lIns="0" tIns="0" rIns="0" bIns="0" rtlCol="0" anchor="t"/>
          <a:lstStyle/>
          <a:p>
            <a:pPr marL="0" indent="0" algn="l">
              <a:lnSpc>
                <a:spcPct val="104000"/>
              </a:lnSpc>
              <a:buNone/>
            </a:pPr>
            <a:endParaRPr lang="en-US" sz="1450" dirty="0"/>
          </a:p>
        </p:txBody>
      </p:sp>
      <p:sp>
        <p:nvSpPr>
          <p:cNvPr id="12" name="Text 10"/>
          <p:cNvSpPr/>
          <p:nvPr/>
        </p:nvSpPr>
        <p:spPr>
          <a:xfrm>
            <a:off x="631908" y="4186337"/>
            <a:ext cx="10927878" cy="432197"/>
          </a:xfrm>
          <a:prstGeom prst="rect">
            <a:avLst/>
          </a:prstGeom>
          <a:noFill/>
          <a:ln/>
        </p:spPr>
        <p:txBody>
          <a:bodyPr wrap="square" lIns="0" tIns="0" rIns="0" bIns="0" rtlCol="0" anchor="t">
            <a:normAutofit/>
          </a:bodyPr>
          <a:lstStyle/>
          <a:p>
            <a:pPr marL="0" indent="0" algn="l">
              <a:lnSpc>
                <a:spcPct val="127000"/>
              </a:lnSpc>
              <a:buNone/>
            </a:pPr>
            <a:r>
              <a:rPr lang="en-US" sz="1100" b="1" dirty="0">
                <a:solidFill>
                  <a:srgbClr val="3B3535"/>
                </a:solidFill>
                <a:latin typeface="Sora Bold" pitchFamily="34" charset="0"/>
                <a:ea typeface="Sora Bold" pitchFamily="34" charset="-122"/>
                <a:cs typeface="Sora Bold" pitchFamily="34" charset="-120"/>
              </a:rPr>
              <a:t>                                         Alarm Management / API Response</a:t>
            </a:r>
            <a:endParaRPr lang="en-US" sz="1100" dirty="0"/>
          </a:p>
          <a:p>
            <a:pPr marL="0" indent="0" algn="l">
              <a:lnSpc>
                <a:spcPct val="127000"/>
              </a:lnSpc>
              <a:buNone/>
            </a:pPr>
            <a:r>
              <a:rPr lang="en-US" sz="1100" dirty="0">
                <a:solidFill>
                  <a:srgbClr val="3B3535"/>
                </a:solidFill>
                <a:latin typeface="Sora Light" pitchFamily="34" charset="0"/>
                <a:ea typeface="Sora Light" pitchFamily="34" charset="-122"/>
                <a:cs typeface="Sora Light" pitchFamily="34" charset="-120"/>
              </a:rPr>
              <a:t>              Backend alarm creation, status management, and clearing.</a:t>
            </a:r>
            <a:endParaRPr lang="en-US" sz="1100" dirty="0"/>
          </a:p>
        </p:txBody>
      </p:sp>
      <p:sp>
        <p:nvSpPr>
          <p:cNvPr id="13" name="Shape 11"/>
          <p:cNvSpPr/>
          <p:nvPr/>
        </p:nvSpPr>
        <p:spPr>
          <a:xfrm>
            <a:off x="631908" y="4762401"/>
            <a:ext cx="10927878" cy="1567359"/>
          </a:xfrm>
          <a:prstGeom prst="roundRect">
            <a:avLst>
              <a:gd name="adj" fmla="val 3810"/>
            </a:avLst>
          </a:prstGeom>
          <a:solidFill>
            <a:srgbClr val="F9D2D6"/>
          </a:solidFill>
          <a:ln w="6350">
            <a:solidFill>
              <a:srgbClr val="DFB8BC"/>
            </a:solidFill>
            <a:prstDash val="solid"/>
          </a:ln>
        </p:spPr>
      </p:sp>
      <p:sp>
        <p:nvSpPr>
          <p:cNvPr id="14" name="Shape 12"/>
          <p:cNvSpPr/>
          <p:nvPr/>
        </p:nvSpPr>
        <p:spPr>
          <a:xfrm>
            <a:off x="638258" y="4768751"/>
            <a:ext cx="5457589" cy="518220"/>
          </a:xfrm>
          <a:custGeom>
            <a:avLst/>
            <a:gdLst/>
            <a:ahLst/>
            <a:cxnLst/>
            <a:rect l="l" t="t" r="r" b="b"/>
            <a:pathLst>
              <a:path w="5457589" h="518220">
                <a:moveTo>
                  <a:pt x="49763" y="0"/>
                </a:moveTo>
                <a:lnTo>
                  <a:pt x="5457589" y="0"/>
                </a:lnTo>
                <a:lnTo>
                  <a:pt x="5457589" y="518220"/>
                </a:lnTo>
                <a:lnTo>
                  <a:pt x="0" y="518220"/>
                </a:lnTo>
                <a:lnTo>
                  <a:pt x="0" y="49765"/>
                </a:lnTo>
                <a:arcTo wR="49763" hR="49765" stAng="10800000" swAng="5400000"/>
                <a:close/>
              </a:path>
            </a:pathLst>
          </a:custGeom>
          <a:solidFill>
            <a:srgbClr val="F9D2D6"/>
          </a:solidFill>
          <a:ln/>
        </p:spPr>
      </p:sp>
      <p:sp>
        <p:nvSpPr>
          <p:cNvPr id="15" name="Text 13"/>
          <p:cNvSpPr/>
          <p:nvPr/>
        </p:nvSpPr>
        <p:spPr>
          <a:xfrm>
            <a:off x="780435" y="4910931"/>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Java 21</a:t>
            </a:r>
            <a:endParaRPr lang="en-US" sz="1450" dirty="0"/>
          </a:p>
        </p:txBody>
      </p:sp>
      <p:sp>
        <p:nvSpPr>
          <p:cNvPr id="16" name="Shape 14"/>
          <p:cNvSpPr/>
          <p:nvPr/>
        </p:nvSpPr>
        <p:spPr>
          <a:xfrm>
            <a:off x="6095848" y="4768751"/>
            <a:ext cx="5457589" cy="518220"/>
          </a:xfrm>
          <a:custGeom>
            <a:avLst/>
            <a:gdLst/>
            <a:ahLst/>
            <a:cxnLst/>
            <a:rect l="l" t="t" r="r" b="b"/>
            <a:pathLst>
              <a:path w="5457589" h="518220">
                <a:moveTo>
                  <a:pt x="0" y="0"/>
                </a:moveTo>
                <a:lnTo>
                  <a:pt x="5407826" y="0"/>
                </a:lnTo>
                <a:arcTo wR="49763" hR="49765" stAng="16200000" swAng="5400000"/>
                <a:lnTo>
                  <a:pt x="5457589" y="518220"/>
                </a:lnTo>
                <a:lnTo>
                  <a:pt x="0" y="518220"/>
                </a:lnTo>
                <a:lnTo>
                  <a:pt x="0" y="0"/>
                </a:lnTo>
                <a:close/>
              </a:path>
            </a:pathLst>
          </a:custGeom>
          <a:solidFill>
            <a:srgbClr val="F9D2D6"/>
          </a:solidFill>
          <a:ln/>
        </p:spPr>
      </p:sp>
      <p:sp>
        <p:nvSpPr>
          <p:cNvPr id="17" name="Shape 15"/>
          <p:cNvSpPr/>
          <p:nvPr/>
        </p:nvSpPr>
        <p:spPr>
          <a:xfrm>
            <a:off x="6095848" y="4768751"/>
            <a:ext cx="19050" cy="518220"/>
          </a:xfrm>
          <a:prstGeom prst="roundRect">
            <a:avLst>
              <a:gd name="adj" fmla="val 49999"/>
            </a:avLst>
          </a:prstGeom>
          <a:solidFill>
            <a:srgbClr val="DFB8BC"/>
          </a:solidFill>
          <a:ln/>
        </p:spPr>
      </p:sp>
      <p:sp>
        <p:nvSpPr>
          <p:cNvPr id="18" name="Text 16"/>
          <p:cNvSpPr/>
          <p:nvPr/>
        </p:nvSpPr>
        <p:spPr>
          <a:xfrm>
            <a:off x="6238024" y="4910931"/>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Spring Boot 4.0.8</a:t>
            </a:r>
            <a:endParaRPr lang="en-US" sz="1450" dirty="0"/>
          </a:p>
        </p:txBody>
      </p:sp>
      <p:sp>
        <p:nvSpPr>
          <p:cNvPr id="19" name="Shape 17"/>
          <p:cNvSpPr/>
          <p:nvPr/>
        </p:nvSpPr>
        <p:spPr>
          <a:xfrm>
            <a:off x="638258" y="5286970"/>
            <a:ext cx="5457589" cy="518220"/>
          </a:xfrm>
          <a:prstGeom prst="rect">
            <a:avLst/>
          </a:prstGeom>
          <a:solidFill>
            <a:srgbClr val="F9D2D6"/>
          </a:solidFill>
          <a:ln/>
        </p:spPr>
      </p:sp>
      <p:sp>
        <p:nvSpPr>
          <p:cNvPr id="20" name="Shape 18"/>
          <p:cNvSpPr/>
          <p:nvPr/>
        </p:nvSpPr>
        <p:spPr>
          <a:xfrm>
            <a:off x="638258" y="5286970"/>
            <a:ext cx="5457589" cy="19050"/>
          </a:xfrm>
          <a:prstGeom prst="roundRect">
            <a:avLst>
              <a:gd name="adj" fmla="val 49999"/>
            </a:avLst>
          </a:prstGeom>
          <a:solidFill>
            <a:srgbClr val="DFB8BC"/>
          </a:solidFill>
          <a:ln/>
        </p:spPr>
      </p:sp>
      <p:sp>
        <p:nvSpPr>
          <p:cNvPr id="21" name="Text 19"/>
          <p:cNvSpPr/>
          <p:nvPr/>
        </p:nvSpPr>
        <p:spPr>
          <a:xfrm>
            <a:off x="780435" y="5429151"/>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REST API</a:t>
            </a:r>
            <a:endParaRPr lang="en-US" sz="1450" dirty="0"/>
          </a:p>
        </p:txBody>
      </p:sp>
      <p:sp>
        <p:nvSpPr>
          <p:cNvPr id="22" name="Shape 20"/>
          <p:cNvSpPr/>
          <p:nvPr/>
        </p:nvSpPr>
        <p:spPr>
          <a:xfrm>
            <a:off x="6095848" y="5286970"/>
            <a:ext cx="5457589" cy="518220"/>
          </a:xfrm>
          <a:prstGeom prst="rect">
            <a:avLst/>
          </a:prstGeom>
          <a:solidFill>
            <a:srgbClr val="F9D2D6"/>
          </a:solidFill>
          <a:ln/>
        </p:spPr>
      </p:sp>
      <p:sp>
        <p:nvSpPr>
          <p:cNvPr id="23" name="Shape 21"/>
          <p:cNvSpPr/>
          <p:nvPr/>
        </p:nvSpPr>
        <p:spPr>
          <a:xfrm>
            <a:off x="6095848" y="5286970"/>
            <a:ext cx="19050" cy="518220"/>
          </a:xfrm>
          <a:prstGeom prst="roundRect">
            <a:avLst>
              <a:gd name="adj" fmla="val 49999"/>
            </a:avLst>
          </a:prstGeom>
          <a:solidFill>
            <a:srgbClr val="DFB8BC"/>
          </a:solidFill>
          <a:ln/>
        </p:spPr>
      </p:sp>
      <p:sp>
        <p:nvSpPr>
          <p:cNvPr id="24" name="Shape 22"/>
          <p:cNvSpPr/>
          <p:nvPr/>
        </p:nvSpPr>
        <p:spPr>
          <a:xfrm>
            <a:off x="6095848" y="5286970"/>
            <a:ext cx="5457589" cy="19050"/>
          </a:xfrm>
          <a:prstGeom prst="roundRect">
            <a:avLst>
              <a:gd name="adj" fmla="val 49999"/>
            </a:avLst>
          </a:prstGeom>
          <a:solidFill>
            <a:srgbClr val="DFB8BC"/>
          </a:solidFill>
          <a:ln/>
        </p:spPr>
      </p:sp>
      <p:sp>
        <p:nvSpPr>
          <p:cNvPr id="25" name="Text 23"/>
          <p:cNvSpPr/>
          <p:nvPr/>
        </p:nvSpPr>
        <p:spPr>
          <a:xfrm>
            <a:off x="6238024" y="5429151"/>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JPA</a:t>
            </a:r>
            <a:endParaRPr lang="en-US" sz="1450" dirty="0"/>
          </a:p>
        </p:txBody>
      </p:sp>
      <p:sp>
        <p:nvSpPr>
          <p:cNvPr id="26" name="Shape 24"/>
          <p:cNvSpPr/>
          <p:nvPr/>
        </p:nvSpPr>
        <p:spPr>
          <a:xfrm>
            <a:off x="638258" y="5805190"/>
            <a:ext cx="5457589" cy="518220"/>
          </a:xfrm>
          <a:custGeom>
            <a:avLst/>
            <a:gdLst/>
            <a:ahLst/>
            <a:cxnLst/>
            <a:rect l="l" t="t" r="r" b="b"/>
            <a:pathLst>
              <a:path w="5457589" h="518220">
                <a:moveTo>
                  <a:pt x="0" y="0"/>
                </a:moveTo>
                <a:lnTo>
                  <a:pt x="5457589" y="0"/>
                </a:lnTo>
                <a:lnTo>
                  <a:pt x="5457589" y="518220"/>
                </a:lnTo>
                <a:lnTo>
                  <a:pt x="49763" y="518220"/>
                </a:lnTo>
                <a:arcTo wR="49763" hR="49765" stAng="5400000" swAng="5400000"/>
                <a:lnTo>
                  <a:pt x="0" y="0"/>
                </a:lnTo>
                <a:close/>
              </a:path>
            </a:pathLst>
          </a:custGeom>
          <a:solidFill>
            <a:srgbClr val="F9D2D6"/>
          </a:solidFill>
          <a:ln/>
        </p:spPr>
      </p:sp>
      <p:sp>
        <p:nvSpPr>
          <p:cNvPr id="27" name="Shape 25"/>
          <p:cNvSpPr/>
          <p:nvPr/>
        </p:nvSpPr>
        <p:spPr>
          <a:xfrm>
            <a:off x="638258" y="5805190"/>
            <a:ext cx="5457589" cy="19050"/>
          </a:xfrm>
          <a:prstGeom prst="roundRect">
            <a:avLst>
              <a:gd name="adj" fmla="val 49999"/>
            </a:avLst>
          </a:prstGeom>
          <a:solidFill>
            <a:srgbClr val="DFB8BC"/>
          </a:solidFill>
          <a:ln/>
        </p:spPr>
      </p:sp>
      <p:sp>
        <p:nvSpPr>
          <p:cNvPr id="28" name="Text 26"/>
          <p:cNvSpPr/>
          <p:nvPr/>
        </p:nvSpPr>
        <p:spPr>
          <a:xfrm>
            <a:off x="780435" y="5947370"/>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Hibernate</a:t>
            </a:r>
            <a:endParaRPr lang="en-US" sz="1450" dirty="0"/>
          </a:p>
        </p:txBody>
      </p:sp>
      <p:sp>
        <p:nvSpPr>
          <p:cNvPr id="29" name="Shape 27"/>
          <p:cNvSpPr/>
          <p:nvPr/>
        </p:nvSpPr>
        <p:spPr>
          <a:xfrm>
            <a:off x="6095848" y="5805190"/>
            <a:ext cx="5457589" cy="518220"/>
          </a:xfrm>
          <a:custGeom>
            <a:avLst/>
            <a:gdLst/>
            <a:ahLst/>
            <a:cxnLst/>
            <a:rect l="l" t="t" r="r" b="b"/>
            <a:pathLst>
              <a:path w="5457589" h="518220">
                <a:moveTo>
                  <a:pt x="0" y="0"/>
                </a:moveTo>
                <a:lnTo>
                  <a:pt x="5457589" y="0"/>
                </a:lnTo>
                <a:lnTo>
                  <a:pt x="5457589" y="468455"/>
                </a:lnTo>
                <a:arcTo wR="49763" hR="49765" stAng="0" swAng="5400000"/>
                <a:lnTo>
                  <a:pt x="0" y="518220"/>
                </a:lnTo>
                <a:lnTo>
                  <a:pt x="0" y="0"/>
                </a:lnTo>
                <a:close/>
              </a:path>
            </a:pathLst>
          </a:custGeom>
          <a:solidFill>
            <a:srgbClr val="F9D2D6"/>
          </a:solidFill>
          <a:ln/>
        </p:spPr>
      </p:sp>
      <p:sp>
        <p:nvSpPr>
          <p:cNvPr id="30" name="Shape 28"/>
          <p:cNvSpPr/>
          <p:nvPr/>
        </p:nvSpPr>
        <p:spPr>
          <a:xfrm>
            <a:off x="6095848" y="5805190"/>
            <a:ext cx="19050" cy="518220"/>
          </a:xfrm>
          <a:prstGeom prst="roundRect">
            <a:avLst>
              <a:gd name="adj" fmla="val 49999"/>
            </a:avLst>
          </a:prstGeom>
          <a:solidFill>
            <a:srgbClr val="DFB8BC"/>
          </a:solidFill>
          <a:ln/>
        </p:spPr>
      </p:sp>
      <p:sp>
        <p:nvSpPr>
          <p:cNvPr id="31" name="Shape 29"/>
          <p:cNvSpPr/>
          <p:nvPr/>
        </p:nvSpPr>
        <p:spPr>
          <a:xfrm>
            <a:off x="6095848" y="5805190"/>
            <a:ext cx="5457589" cy="19050"/>
          </a:xfrm>
          <a:prstGeom prst="roundRect">
            <a:avLst>
              <a:gd name="adj" fmla="val 49999"/>
            </a:avLst>
          </a:prstGeom>
          <a:solidFill>
            <a:srgbClr val="DFB8BC"/>
          </a:solidFill>
          <a:ln/>
        </p:spPr>
      </p:sp>
      <p:sp>
        <p:nvSpPr>
          <p:cNvPr id="32" name="Text 30"/>
          <p:cNvSpPr/>
          <p:nvPr/>
        </p:nvSpPr>
        <p:spPr>
          <a:xfrm>
            <a:off x="6238024" y="5947370"/>
            <a:ext cx="5173235" cy="233859"/>
          </a:xfrm>
          <a:prstGeom prst="rect">
            <a:avLst/>
          </a:prstGeom>
          <a:noFill/>
          <a:ln/>
        </p:spPr>
        <p:txBody>
          <a:bodyPr wrap="none" lIns="0" tIns="0" rIns="0" bIns="0" rtlCol="0" anchor="t"/>
          <a:lstStyle/>
          <a:p>
            <a:pPr marL="0" indent="0" algn="l">
              <a:lnSpc>
                <a:spcPct val="104000"/>
              </a:lnSpc>
              <a:buNone/>
            </a:pPr>
            <a:r>
              <a:rPr lang="en-US" sz="1450" dirty="0">
                <a:solidFill>
                  <a:srgbClr val="3B3535"/>
                </a:solidFill>
                <a:latin typeface="Sora SemiBold" pitchFamily="34" charset="0"/>
                <a:ea typeface="Sora SemiBold" pitchFamily="34" charset="-122"/>
                <a:cs typeface="Sora SemiBold" pitchFamily="34" charset="-120"/>
              </a:rPr>
              <a:t>PostgreSQL 17</a:t>
            </a:r>
            <a:endParaRPr lang="en-US" sz="1450" dirty="0"/>
          </a:p>
        </p:txBody>
      </p:sp>
      <p:pic>
        <p:nvPicPr>
          <p:cNvPr id="34" name="Picture 33">
            <a:extLst>
              <a:ext uri="{FF2B5EF4-FFF2-40B4-BE49-F238E27FC236}">
                <a16:creationId xmlns:a16="http://schemas.microsoft.com/office/drawing/2014/main" id="{0A6DBEFA-F02B-302D-FD53-18BE76C7B6DF}"/>
              </a:ext>
            </a:extLst>
          </p:cNvPr>
          <p:cNvPicPr>
            <a:picLocks noChangeAspect="1"/>
          </p:cNvPicPr>
          <p:nvPr/>
        </p:nvPicPr>
        <p:blipFill>
          <a:blip r:embed="rId3"/>
          <a:stretch>
            <a:fillRect/>
          </a:stretch>
        </p:blipFill>
        <p:spPr>
          <a:xfrm>
            <a:off x="10458923" y="6522721"/>
            <a:ext cx="1733078" cy="293370"/>
          </a:xfrm>
          <a:prstGeom prst="rect">
            <a:avLst/>
          </a:prstGeom>
        </p:spPr>
      </p:pic>
      <p:pic>
        <p:nvPicPr>
          <p:cNvPr id="38" name="Picture 37">
            <a:extLst>
              <a:ext uri="{FF2B5EF4-FFF2-40B4-BE49-F238E27FC236}">
                <a16:creationId xmlns:a16="http://schemas.microsoft.com/office/drawing/2014/main" id="{3971A0D7-95A4-720D-85BE-5B6A2CF49AAF}"/>
              </a:ext>
            </a:extLst>
          </p:cNvPr>
          <p:cNvPicPr>
            <a:picLocks noChangeAspect="1"/>
          </p:cNvPicPr>
          <p:nvPr/>
        </p:nvPicPr>
        <p:blipFill>
          <a:blip r:embed="rId4"/>
          <a:srcRect/>
          <a:stretch/>
        </p:blipFill>
        <p:spPr>
          <a:xfrm>
            <a:off x="1722087" y="2549210"/>
            <a:ext cx="3289930" cy="14949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0" name="Picture 39">
            <a:extLst>
              <a:ext uri="{FF2B5EF4-FFF2-40B4-BE49-F238E27FC236}">
                <a16:creationId xmlns:a16="http://schemas.microsoft.com/office/drawing/2014/main" id="{02E27ED9-686A-0796-9E1C-0FAC56ED671F}"/>
              </a:ext>
            </a:extLst>
          </p:cNvPr>
          <p:cNvPicPr>
            <a:picLocks noChangeAspect="1"/>
          </p:cNvPicPr>
          <p:nvPr/>
        </p:nvPicPr>
        <p:blipFill>
          <a:blip r:embed="rId4"/>
          <a:srcRect/>
          <a:stretch/>
        </p:blipFill>
        <p:spPr>
          <a:xfrm>
            <a:off x="6275627" y="2565297"/>
            <a:ext cx="3413056" cy="15508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1908" y="1054349"/>
            <a:ext cx="11685666" cy="717054"/>
          </a:xfrm>
          <a:prstGeom prst="rect">
            <a:avLst/>
          </a:prstGeom>
          <a:noFill/>
          <a:ln/>
        </p:spPr>
        <p:txBody>
          <a:bodyPr wrap="none" lIns="0" tIns="0" rIns="0" bIns="0" rtlCol="0" anchor="t"/>
          <a:lstStyle/>
          <a:p>
            <a:pPr marL="0" indent="0" algn="l">
              <a:lnSpc>
                <a:spcPct val="104000"/>
              </a:lnSpc>
              <a:buNone/>
            </a:pPr>
            <a:r>
              <a:rPr lang="en-US" sz="3250" dirty="0">
                <a:solidFill>
                  <a:srgbClr val="1F1E1E"/>
                </a:solidFill>
                <a:latin typeface="Sora SemiBold" pitchFamily="34" charset="0"/>
                <a:ea typeface="Sora SemiBold" pitchFamily="34" charset="-122"/>
                <a:cs typeface="Sora SemiBold" pitchFamily="34" charset="-120"/>
              </a:rPr>
              <a:t>THANK YOU</a:t>
            </a:r>
            <a:endParaRPr lang="en-US" sz="3250" dirty="0"/>
          </a:p>
        </p:txBody>
      </p:sp>
      <p:sp>
        <p:nvSpPr>
          <p:cNvPr id="3" name="Text 1"/>
          <p:cNvSpPr/>
          <p:nvPr/>
        </p:nvSpPr>
        <p:spPr>
          <a:xfrm>
            <a:off x="631908" y="1584920"/>
            <a:ext cx="10927878" cy="717054"/>
          </a:xfrm>
          <a:prstGeom prst="rect">
            <a:avLst/>
          </a:prstGeom>
          <a:noFill/>
          <a:ln/>
        </p:spPr>
        <p:txBody>
          <a:bodyPr wrap="none" lIns="0" tIns="0" rIns="0" bIns="0" rtlCol="0" anchor="t"/>
          <a:lstStyle/>
          <a:p>
            <a:pPr marL="0" indent="0" algn="l">
              <a:lnSpc>
                <a:spcPct val="104000"/>
              </a:lnSpc>
              <a:buNone/>
            </a:pPr>
            <a:r>
              <a:rPr lang="en-US" sz="4500" dirty="0">
                <a:solidFill>
                  <a:srgbClr val="1F1E1E"/>
                </a:solidFill>
                <a:latin typeface="Sora SemiBold" pitchFamily="34" charset="0"/>
                <a:ea typeface="Sora SemiBold" pitchFamily="34" charset="-122"/>
                <a:cs typeface="Sora SemiBold" pitchFamily="34" charset="-120"/>
              </a:rPr>
              <a:t>WIPRO NMS CAPSTONE PROJECT</a:t>
            </a:r>
            <a:endParaRPr lang="en-US" sz="4500" dirty="0"/>
          </a:p>
        </p:txBody>
      </p:sp>
      <p:sp>
        <p:nvSpPr>
          <p:cNvPr id="4" name="Text 2"/>
          <p:cNvSpPr/>
          <p:nvPr/>
        </p:nvSpPr>
        <p:spPr>
          <a:xfrm>
            <a:off x="706553" y="2621856"/>
            <a:ext cx="10927878" cy="683121"/>
          </a:xfrm>
          <a:prstGeom prst="rect">
            <a:avLst/>
          </a:prstGeom>
          <a:noFill/>
          <a:ln/>
        </p:spPr>
        <p:txBody>
          <a:bodyPr wrap="square" lIns="0" tIns="0" rIns="0" bIns="0" rtlCol="0" anchor="t"/>
          <a:lstStyle/>
          <a:p>
            <a:pPr marL="0" indent="0" algn="l">
              <a:lnSpc>
                <a:spcPct val="133000"/>
              </a:lnSpc>
              <a:spcAft>
                <a:spcPts val="1350"/>
              </a:spcAft>
              <a:buNone/>
            </a:pPr>
            <a:r>
              <a:rPr lang="en-US" sz="1200" dirty="0">
                <a:solidFill>
                  <a:srgbClr val="3B3535"/>
                </a:solidFill>
                <a:latin typeface="Sora Light" pitchFamily="34" charset="0"/>
                <a:ea typeface="Sora Light" pitchFamily="34" charset="-122"/>
                <a:cs typeface="Sora Light" pitchFamily="34" charset="-120"/>
              </a:rPr>
              <a:t>Network Management System — </a:t>
            </a:r>
            <a:r>
              <a:rPr lang="en-US" sz="1200">
                <a:solidFill>
                  <a:srgbClr val="3B3535"/>
                </a:solidFill>
                <a:latin typeface="Sora Light" pitchFamily="34" charset="0"/>
                <a:ea typeface="Sora Light" pitchFamily="34" charset="-122"/>
                <a:cs typeface="Sora Light" pitchFamily="34" charset="-120"/>
              </a:rPr>
              <a:t>Capstone Project</a:t>
            </a:r>
            <a:endParaRPr lang="en-US" sz="1200" dirty="0"/>
          </a:p>
        </p:txBody>
      </p:sp>
      <p:sp>
        <p:nvSpPr>
          <p:cNvPr id="5" name="Shape 3"/>
          <p:cNvSpPr/>
          <p:nvPr/>
        </p:nvSpPr>
        <p:spPr>
          <a:xfrm>
            <a:off x="631908" y="3399730"/>
            <a:ext cx="3537258" cy="2199382"/>
          </a:xfrm>
          <a:prstGeom prst="roundRect">
            <a:avLst>
              <a:gd name="adj" fmla="val 3017"/>
            </a:avLst>
          </a:prstGeom>
          <a:solidFill>
            <a:srgbClr val="F9D2D6"/>
          </a:solidFill>
          <a:ln w="6350">
            <a:solidFill>
              <a:srgbClr val="DFB8BC"/>
            </a:solidFill>
            <a:prstDash val="solid"/>
          </a:ln>
        </p:spPr>
      </p:sp>
      <p:sp>
        <p:nvSpPr>
          <p:cNvPr id="6" name="Text 4"/>
          <p:cNvSpPr/>
          <p:nvPr/>
        </p:nvSpPr>
        <p:spPr>
          <a:xfrm>
            <a:off x="796211" y="3564037"/>
            <a:ext cx="3208654"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Project Team</a:t>
            </a:r>
            <a:endParaRPr lang="en-US" sz="1600" dirty="0"/>
          </a:p>
        </p:txBody>
      </p:sp>
      <p:sp>
        <p:nvSpPr>
          <p:cNvPr id="7" name="Text 5"/>
          <p:cNvSpPr/>
          <p:nvPr/>
        </p:nvSpPr>
        <p:spPr>
          <a:xfrm>
            <a:off x="796211" y="3918545"/>
            <a:ext cx="3208654" cy="758130"/>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230701138 — Kamalesh SP</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230701158 — Kumaran R</a:t>
            </a:r>
            <a:endParaRPr lang="en-US" sz="1200" dirty="0"/>
          </a:p>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230701414 — Ganesh M</a:t>
            </a:r>
            <a:endParaRPr lang="en-US" sz="1200" dirty="0"/>
          </a:p>
        </p:txBody>
      </p:sp>
      <p:sp>
        <p:nvSpPr>
          <p:cNvPr id="8" name="Shape 6"/>
          <p:cNvSpPr/>
          <p:nvPr/>
        </p:nvSpPr>
        <p:spPr>
          <a:xfrm>
            <a:off x="4327119" y="3399730"/>
            <a:ext cx="3537358" cy="2199382"/>
          </a:xfrm>
          <a:prstGeom prst="roundRect">
            <a:avLst>
              <a:gd name="adj" fmla="val 3017"/>
            </a:avLst>
          </a:prstGeom>
          <a:solidFill>
            <a:srgbClr val="F9D2D6"/>
          </a:solidFill>
          <a:ln w="6350">
            <a:solidFill>
              <a:srgbClr val="DFB8BC"/>
            </a:solidFill>
            <a:prstDash val="solid"/>
          </a:ln>
        </p:spPr>
      </p:sp>
      <p:sp>
        <p:nvSpPr>
          <p:cNvPr id="9" name="Text 7"/>
          <p:cNvSpPr/>
          <p:nvPr/>
        </p:nvSpPr>
        <p:spPr>
          <a:xfrm>
            <a:off x="4491421" y="3564037"/>
            <a:ext cx="3208753"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Guided By</a:t>
            </a:r>
            <a:endParaRPr lang="en-US" sz="1600" dirty="0"/>
          </a:p>
        </p:txBody>
      </p:sp>
      <p:sp>
        <p:nvSpPr>
          <p:cNvPr id="10" name="Text 8"/>
          <p:cNvSpPr/>
          <p:nvPr/>
        </p:nvSpPr>
        <p:spPr>
          <a:xfrm>
            <a:off x="4491421" y="3918545"/>
            <a:ext cx="3208753" cy="252710"/>
          </a:xfrm>
          <a:prstGeom prst="rect">
            <a:avLst/>
          </a:prstGeom>
          <a:noFill/>
          <a:ln/>
        </p:spPr>
        <p:txBody>
          <a:bodyPr wrap="none" lIns="0" tIns="0" rIns="0" bIns="0" rtlCol="0" anchor="t"/>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[MENTOR NAME]</a:t>
            </a:r>
            <a:endParaRPr lang="en-US" sz="1200" dirty="0"/>
          </a:p>
        </p:txBody>
      </p:sp>
      <p:sp>
        <p:nvSpPr>
          <p:cNvPr id="11" name="Shape 9"/>
          <p:cNvSpPr/>
          <p:nvPr/>
        </p:nvSpPr>
        <p:spPr>
          <a:xfrm>
            <a:off x="8022429" y="3399730"/>
            <a:ext cx="3537258" cy="2199382"/>
          </a:xfrm>
          <a:prstGeom prst="roundRect">
            <a:avLst>
              <a:gd name="adj" fmla="val 3017"/>
            </a:avLst>
          </a:prstGeom>
          <a:solidFill>
            <a:srgbClr val="F9D2D6"/>
          </a:solidFill>
          <a:ln w="6350">
            <a:solidFill>
              <a:srgbClr val="DFB8BC"/>
            </a:solidFill>
            <a:prstDash val="solid"/>
          </a:ln>
        </p:spPr>
      </p:sp>
      <p:sp>
        <p:nvSpPr>
          <p:cNvPr id="12" name="Text 10"/>
          <p:cNvSpPr/>
          <p:nvPr/>
        </p:nvSpPr>
        <p:spPr>
          <a:xfrm>
            <a:off x="8186731" y="3564037"/>
            <a:ext cx="3208654" cy="259755"/>
          </a:xfrm>
          <a:prstGeom prst="rect">
            <a:avLst/>
          </a:prstGeom>
          <a:noFill/>
          <a:ln/>
        </p:spPr>
        <p:txBody>
          <a:bodyPr wrap="none" lIns="0" tIns="0" rIns="0" bIns="0" rtlCol="0" anchor="t"/>
          <a:lstStyle/>
          <a:p>
            <a:pPr marL="0" indent="0" algn="l">
              <a:lnSpc>
                <a:spcPct val="104000"/>
              </a:lnSpc>
              <a:buNone/>
            </a:pPr>
            <a:r>
              <a:rPr lang="en-US" sz="1600" dirty="0">
                <a:solidFill>
                  <a:srgbClr val="3B3535"/>
                </a:solidFill>
                <a:latin typeface="Sora SemiBold" pitchFamily="34" charset="0"/>
                <a:ea typeface="Sora SemiBold" pitchFamily="34" charset="-122"/>
                <a:cs typeface="Sora SemiBold" pitchFamily="34" charset="-120"/>
              </a:rPr>
              <a:t>Technology Summary</a:t>
            </a:r>
            <a:endParaRPr lang="en-US" sz="1600" dirty="0"/>
          </a:p>
        </p:txBody>
      </p:sp>
      <p:sp>
        <p:nvSpPr>
          <p:cNvPr id="13" name="Text 11"/>
          <p:cNvSpPr/>
          <p:nvPr/>
        </p:nvSpPr>
        <p:spPr>
          <a:xfrm>
            <a:off x="8186731" y="3918545"/>
            <a:ext cx="3208654" cy="1516261"/>
          </a:xfrm>
          <a:prstGeom prst="rect">
            <a:avLst/>
          </a:prstGeom>
          <a:noFill/>
          <a:ln/>
        </p:spPr>
        <p:txBody>
          <a:bodyPr wrap="square" lIns="0" tIns="0" rIns="0" bIns="0" rtlCol="0" anchor="t">
            <a:normAutofit/>
          </a:bodyPr>
          <a:lstStyle/>
          <a:p>
            <a:pPr>
              <a:lnSpc>
                <a:spcPct val="133000"/>
              </a:lnSpc>
            </a:pPr>
            <a:r>
              <a:rPr lang="en-US" sz="1200" dirty="0">
                <a:solidFill>
                  <a:srgbClr val="3B3535"/>
                </a:solidFill>
                <a:latin typeface="Sora Light" pitchFamily="34" charset="0"/>
                <a:ea typeface="Sora Light" pitchFamily="34" charset="-122"/>
                <a:cs typeface="Sora Light" pitchFamily="34" charset="-120"/>
              </a:rPr>
              <a:t>GNS3 • </a:t>
            </a:r>
            <a:r>
              <a:rPr lang="en-US" sz="1200" dirty="0" err="1">
                <a:solidFill>
                  <a:srgbClr val="3B3535"/>
                </a:solidFill>
                <a:latin typeface="Sora Light" pitchFamily="34" charset="0"/>
                <a:ea typeface="Sora Light" pitchFamily="34" charset="-122"/>
                <a:cs typeface="Sora Light" pitchFamily="34" charset="-120"/>
              </a:rPr>
              <a:t>FRRouting</a:t>
            </a:r>
            <a:r>
              <a:rPr lang="en-US" sz="1200" dirty="0">
                <a:solidFill>
                  <a:srgbClr val="3B3535"/>
                </a:solidFill>
                <a:latin typeface="Sora Light" pitchFamily="34" charset="0"/>
                <a:ea typeface="Sora Light" pitchFamily="34" charset="-122"/>
                <a:cs typeface="Sora Light" pitchFamily="34" charset="-120"/>
              </a:rPr>
              <a:t> • SNMP • Java 21 • Spring Boot 4.0.8 • Spring Data JPA • Hibernate ORM • Maven • Apache Tomcat 11 • PostgreSQL 17 • Supabase • HikariCP • React • Tailwind CSS • REST / JSON • LOCAL AI LLM • </a:t>
            </a:r>
            <a:r>
              <a:rPr lang="en-US" sz="1200" dirty="0" err="1">
                <a:solidFill>
                  <a:srgbClr val="3B3535"/>
                </a:solidFill>
                <a:latin typeface="Sora Light" pitchFamily="34" charset="0"/>
                <a:ea typeface="Sora Light" pitchFamily="34" charset="-122"/>
                <a:cs typeface="Sora Light" pitchFamily="34" charset="-120"/>
              </a:rPr>
              <a:t>ExternalAPI</a:t>
            </a:r>
            <a:endParaRPr lang="en-US" sz="1200" dirty="0"/>
          </a:p>
        </p:txBody>
      </p:sp>
      <p:sp>
        <p:nvSpPr>
          <p:cNvPr id="14" name="Text 12"/>
          <p:cNvSpPr/>
          <p:nvPr/>
        </p:nvSpPr>
        <p:spPr>
          <a:xfrm>
            <a:off x="631908" y="5776813"/>
            <a:ext cx="11537463" cy="252710"/>
          </a:xfrm>
          <a:prstGeom prst="rect">
            <a:avLst/>
          </a:prstGeom>
          <a:noFill/>
          <a:ln/>
        </p:spPr>
        <p:txBody>
          <a:bodyPr wrap="none" lIns="0" tIns="0" rIns="0" bIns="0" rtlCol="0" anchor="t"/>
          <a:lstStyle/>
          <a:p>
            <a:pPr marL="0" indent="0" algn="l">
              <a:lnSpc>
                <a:spcPct val="133000"/>
              </a:lnSpc>
              <a:buNone/>
            </a:pPr>
            <a:r>
              <a:rPr lang="en-US" sz="1200" dirty="0">
                <a:solidFill>
                  <a:srgbClr val="3B3535"/>
                </a:solidFill>
                <a:latin typeface="Sora Light" pitchFamily="34" charset="0"/>
                <a:ea typeface="Sora Light" pitchFamily="34" charset="-122"/>
                <a:cs typeface="Sora Light" pitchFamily="34" charset="-120"/>
              </a:rPr>
              <a:t>[RAJALAKSHMI ENGINEERING COLLEGE] · [COMPUTER SCIENCE AND ENGINEERING]</a:t>
            </a:r>
            <a:endParaRPr lang="en-US" sz="1200" dirty="0"/>
          </a:p>
        </p:txBody>
      </p:sp>
      <p:pic>
        <p:nvPicPr>
          <p:cNvPr id="16" name="Picture 15">
            <a:extLst>
              <a:ext uri="{FF2B5EF4-FFF2-40B4-BE49-F238E27FC236}">
                <a16:creationId xmlns:a16="http://schemas.microsoft.com/office/drawing/2014/main" id="{B673A745-D379-CC23-0970-2E82F7570063}"/>
              </a:ext>
            </a:extLst>
          </p:cNvPr>
          <p:cNvPicPr>
            <a:picLocks noChangeAspect="1"/>
          </p:cNvPicPr>
          <p:nvPr/>
        </p:nvPicPr>
        <p:blipFill>
          <a:blip r:embed="rId3"/>
          <a:stretch>
            <a:fillRect/>
          </a:stretch>
        </p:blipFill>
        <p:spPr>
          <a:xfrm>
            <a:off x="10458923" y="6378575"/>
            <a:ext cx="1733078" cy="4375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2430</Words>
  <Application>Microsoft Office PowerPoint</Application>
  <PresentationFormat>Widescreen</PresentationFormat>
  <Paragraphs>232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Sora SemiBold</vt:lpstr>
      <vt:lpstr>Sora Bold</vt:lpstr>
      <vt:lpstr>Arial</vt:lpstr>
      <vt:lpstr>Sora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Kumaran</dc:creator>
  <cp:lastModifiedBy>Kumaran R</cp:lastModifiedBy>
  <cp:revision>4</cp:revision>
  <dcterms:created xsi:type="dcterms:W3CDTF">2026-10-05T14:50:19Z</dcterms:created>
  <dcterms:modified xsi:type="dcterms:W3CDTF">2026-10-06T05:21:31Z</dcterms:modified>
</cp:coreProperties>
</file>